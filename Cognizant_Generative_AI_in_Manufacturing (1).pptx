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926" r:id="rId4"/>
  </p:sldMasterIdLst>
  <p:notesMasterIdLst>
    <p:notesMasterId r:id="rId13"/>
  </p:notesMasterIdLst>
  <p:handoutMasterIdLst>
    <p:handoutMasterId r:id="rId14"/>
  </p:handoutMasterIdLst>
  <p:sldIdLst>
    <p:sldId id="2147479442" r:id="rId5"/>
    <p:sldId id="2147479443" r:id="rId6"/>
    <p:sldId id="2147479444" r:id="rId7"/>
    <p:sldId id="2147479445" r:id="rId8"/>
    <p:sldId id="2147479446" r:id="rId9"/>
    <p:sldId id="2147479447" r:id="rId10"/>
    <p:sldId id="2147479448" r:id="rId11"/>
    <p:sldId id="214747944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527C4F3F-6D78-2D44-AA0B-70A49D008E79}">
          <p14:sldIdLst>
            <p14:sldId id="2147479442"/>
            <p14:sldId id="2147479443"/>
            <p14:sldId id="2147479444"/>
            <p14:sldId id="2147479445"/>
            <p14:sldId id="2147479446"/>
            <p14:sldId id="2147479447"/>
            <p14:sldId id="2147479448"/>
            <p14:sldId id="2147479449"/>
          </p14:sldIdLst>
        </p14:section>
        <p14:section name="Covers" id="{8705E8D6-CB78-6442-AB36-0CD2FC3662C2}">
          <p14:sldIdLst/>
        </p14:section>
        <p14:section name="Agenda" id="{150BC4E0-845C-BA46-8171-7C5DE8382948}">
          <p14:sldIdLst/>
        </p14:section>
        <p14:section name="Dividers" id="{DB2A0A3A-5EE5-3C41-A717-97A6C90F976C}">
          <p14:sldIdLst/>
        </p14:section>
        <p14:section name="Content - light" id="{3221EC01-B31F-4542-BD97-D72D9D2227EA}">
          <p14:sldIdLst/>
        </p14:section>
        <p14:section name="Content - dark" id="{E5876DD2-5BDA-324A-9F58-081428975AC9}">
          <p14:sldIdLst/>
        </p14:section>
        <p14:section name="Imagery" id="{43A43E6C-CE72-3749-A3B3-2987A8E7AE57}">
          <p14:sldIdLst/>
        </p14:section>
        <p14:section name="Charts and graphs" id="{C4497982-49AC-EB40-BD78-D4B150467C60}">
          <p14:sldIdLst/>
        </p14:section>
        <p14:section name="Tables" id="{18F929D9-F8B2-B14A-8389-152D2A3AA994}">
          <p14:sldIdLst/>
        </p14:section>
        <p14:section name="Closing slide" id="{C8A2E1DF-13D2-FC40-A09C-AC049538ACC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1CC117-DD14-B143-B720-6EA5CB198D8E}" v="5" dt="2025-05-09T10:42:27.563"/>
  </p1510:revLst>
</p1510:revInfo>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94" autoAdjust="0"/>
    <p:restoredTop sz="96327" autoAdjust="0"/>
  </p:normalViewPr>
  <p:slideViewPr>
    <p:cSldViewPr snapToGrid="0">
      <p:cViewPr varScale="1">
        <p:scale>
          <a:sx n="86" d="100"/>
          <a:sy n="86" d="100"/>
        </p:scale>
        <p:origin x="435" y="51"/>
      </p:cViewPr>
      <p:guideLst/>
    </p:cSldViewPr>
  </p:slideViewPr>
  <p:outlineViewPr>
    <p:cViewPr>
      <p:scale>
        <a:sx n="33" d="100"/>
        <a:sy n="33" d="100"/>
      </p:scale>
      <p:origin x="0" y="-19659"/>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p:scale>
          <a:sx n="86" d="100"/>
          <a:sy n="86" d="100"/>
        </p:scale>
        <p:origin x="3360" y="520"/>
      </p:cViewPr>
      <p:guideLst/>
    </p:cSldViewPr>
  </p:notesViewPr>
  <p:gridSpacing cx="914400" cy="9144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IN" sz="1200" b="1">
                <a:solidFill>
                  <a:srgbClr val="FFFFFF"/>
                </a:solidFill>
                <a:latin typeface="Arial"/>
              </a:rPr>
              <a:t>AI adoption in manufacturing</a:t>
            </a:r>
          </a:p>
        </c:rich>
      </c:tx>
      <c:overlay val="0"/>
    </c:title>
    <c:autoTitleDeleted val="0"/>
    <c:plotArea>
      <c:layout/>
      <c:lineChart>
        <c:grouping val="standard"/>
        <c:varyColors val="0"/>
        <c:ser>
          <c:idx val="0"/>
          <c:order val="0"/>
          <c:tx>
            <c:strRef>
              <c:f>Sheet1!$B$1</c:f>
              <c:strCache>
                <c:ptCount val="1"/>
                <c:pt idx="0">
                  <c:v>AI adoption</c:v>
                </c:pt>
              </c:strCache>
            </c:strRef>
          </c:tx>
          <c:spPr>
            <a:ln w="31750">
              <a:solidFill>
                <a:srgbClr val="92BBE6"/>
              </a:solidFill>
            </a:ln>
          </c:spPr>
          <c:marker>
            <c:symbol val="diamond"/>
            <c:size val="5"/>
            <c:spPr>
              <a:solidFill>
                <a:srgbClr val="2F78C4"/>
              </a:solidFill>
            </c:spPr>
          </c:marker>
          <c:dLbls>
            <c:numFmt formatCode="0%" sourceLinked="0"/>
            <c:spPr>
              <a:noFill/>
              <a:ln>
                <a:noFill/>
              </a:ln>
              <a:effectLst/>
            </c:spPr>
            <c:txPr>
              <a:bodyPr/>
              <a:lstStyle/>
              <a:p>
                <a:pPr>
                  <a:defRPr sz="1000">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2020</c:v>
                </c:pt>
                <c:pt idx="1">
                  <c:v>2022</c:v>
                </c:pt>
                <c:pt idx="2">
                  <c:v>2024</c:v>
                </c:pt>
                <c:pt idx="3">
                  <c:v>2026</c:v>
                </c:pt>
                <c:pt idx="4">
                  <c:v>2028</c:v>
                </c:pt>
              </c:strCache>
            </c:strRef>
          </c:cat>
          <c:val>
            <c:numRef>
              <c:f>Sheet1!$B$2:$B$6</c:f>
              <c:numCache>
                <c:formatCode>General</c:formatCode>
                <c:ptCount val="5"/>
                <c:pt idx="0">
                  <c:v>0.18</c:v>
                </c:pt>
                <c:pt idx="1">
                  <c:v>0.32</c:v>
                </c:pt>
                <c:pt idx="2">
                  <c:v>0.48</c:v>
                </c:pt>
                <c:pt idx="3">
                  <c:v>0.67</c:v>
                </c:pt>
                <c:pt idx="4">
                  <c:v>0.82</c:v>
                </c:pt>
              </c:numCache>
            </c:numRef>
          </c:val>
          <c:smooth val="0"/>
          <c:extLst>
            <c:ext xmlns:c16="http://schemas.microsoft.com/office/drawing/2014/chart" uri="{C3380CC4-5D6E-409C-BE32-E72D297353CC}">
              <c16:uniqueId val="{00000000-DE75-4D07-AD2E-9A62408D802F}"/>
            </c:ext>
          </c:extLst>
        </c:ser>
        <c:dLbls>
          <c:showLegendKey val="0"/>
          <c:showVal val="1"/>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3A3A5C"/>
            </a:solidFill>
          </a:ln>
        </c:spPr>
        <c:txPr>
          <a:bodyPr/>
          <a:lstStyle/>
          <a:p>
            <a:pPr>
              <a:defRPr sz="1050">
                <a:solidFill>
                  <a:srgbClr val="FFFFFF"/>
                </a:solidFill>
                <a:latin typeface="Arial"/>
              </a:defRPr>
            </a:pPr>
            <a:endParaRPr lang="en-US"/>
          </a:p>
        </c:txPr>
        <c:crossAx val="2140495176"/>
        <c:crosses val="autoZero"/>
        <c:auto val="1"/>
        <c:lblAlgn val="ctr"/>
        <c:lblOffset val="100"/>
        <c:noMultiLvlLbl val="0"/>
      </c:catAx>
      <c:valAx>
        <c:axId val="2140495176"/>
        <c:scaling>
          <c:orientation val="minMax"/>
        </c:scaling>
        <c:delete val="1"/>
        <c:axPos val="l"/>
        <c:numFmt formatCode="General" sourceLinked="1"/>
        <c:majorTickMark val="out"/>
        <c:minorTickMark val="none"/>
        <c:tickLblPos val="nextTo"/>
        <c:crossAx val="2118791784"/>
        <c:crosses val="autoZero"/>
        <c:crossBetween val="between"/>
      </c:valAx>
      <c:spPr>
        <a:noFill/>
        <a:ln>
          <a:noFill/>
        </a:ln>
      </c:spPr>
    </c:plotArea>
    <c:plotVisOnly val="1"/>
    <c:dispBlanksAs val="gap"/>
    <c:showDLblsOverMax val="0"/>
  </c:chart>
  <c:spPr>
    <a:noFill/>
    <a:ln>
      <a:noFill/>
    </a:ln>
  </c:spPr>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7/12/2026</a:t>
            </a:fld>
            <a:endParaRPr lang="en-US" sz="700" dirty="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dirty="0"/>
              <a:t>© 2025–2027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dirty="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7/12/2026</a:t>
            </a:fld>
            <a:endParaRPr lang="en-US" dirty="0"/>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dirty="0"/>
              <a:t>© 2025–2027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dirty="0"/>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dirty="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COVERS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dirty="0"/>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dirty="0"/>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286A2542-7993-A342-B210-6752144F2E92}" type="datetime1">
              <a:rPr lang="en-US" smtClean="0"/>
              <a:t>7/12/2026</a:t>
            </a:fld>
            <a:endParaRPr lang="en-US" dirty="0"/>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dirty="0"/>
              <a:t>© 2025–2027 Cognizant | Private</a:t>
            </a:r>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dirty="0"/>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3">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dirty="0"/>
              <a:t>Click to add extra long presentation </a:t>
            </a:r>
            <a:br>
              <a:rPr lang="en-US" dirty="0"/>
            </a:br>
            <a:r>
              <a:rPr lang="en-US" dirty="0"/>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8A7A8D7F-117B-444E-ACF4-1566747F9641}" type="datetime1">
              <a:rPr lang="en-US" smtClean="0"/>
              <a:t>7/12/2026</a:t>
            </a:fld>
            <a:endParaRPr lang="en-US" dirty="0"/>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content</a:t>
            </a:r>
          </a:p>
          <a:p>
            <a:pPr lvl="1"/>
            <a:r>
              <a:rPr lang="en-US" dirty="0"/>
              <a:t>2nd level text</a:t>
            </a:r>
          </a:p>
          <a:p>
            <a:pPr lvl="2"/>
            <a:r>
              <a:rPr lang="en-US" dirty="0"/>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CCE15D93-701F-AD45-BF63-B5231D171A5D}" type="datetime1">
              <a:rPr lang="en-US" smtClean="0"/>
              <a:t>7/12/2026</a:t>
            </a:fld>
            <a:endParaRPr lang="en-US" dirty="0"/>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text</a:t>
            </a:r>
          </a:p>
          <a:p>
            <a:pPr lvl="1"/>
            <a:r>
              <a:rPr lang="en-US" dirty="0"/>
              <a:t>Second level</a:t>
            </a:r>
          </a:p>
          <a:p>
            <a:pPr lvl="2"/>
            <a:r>
              <a:rPr lang="en-US" dirty="0"/>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C80D56A-092C-7C43-AECB-57F4A9F97943}" type="datetime1">
              <a:rPr lang="en-US" smtClean="0"/>
              <a:t>7/12/2026</a:t>
            </a:fld>
            <a:endParaRPr lang="en-US" dirty="0"/>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dirty="0"/>
              <a:t>© 2025–2027 Cognizant | Private</a:t>
            </a:r>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dirty="0"/>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dirty="0"/>
              <a:t>Presenter’s name will go here</a:t>
            </a:r>
            <a:br>
              <a:rPr lang="en-US" dirty="0"/>
            </a:br>
            <a:r>
              <a:rPr lang="en-US" dirty="0"/>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573FA3B9-C6DE-BE42-9D23-7FE671AC76FC}" type="datetime1">
              <a:rPr lang="en-US" smtClean="0"/>
              <a:t>7/12/2026</a:t>
            </a:fld>
            <a:endParaRPr lang="en-US" dirty="0"/>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dirty="0"/>
              <a:t>© 2025–2027 Cognizant | Private</a:t>
            </a:r>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DIVIDERS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93339195-9B87-7743-9A8D-50BE832439EE}" type="datetime1">
              <a:rPr lang="en-US" smtClean="0"/>
              <a:t>7/12/2026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CDECBBED-5CB0-E446-9994-39B46F9E3A96}" type="datetime1">
              <a:rPr lang="en-US" smtClean="0"/>
              <a:t>7/12/2026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7/12/2026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7/12/2026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7/12/2026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7/12/2026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7/12/2026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a:extLst>
                <a:ext uri="{96DAC541-7B7A-43D3-8B79-37D633B846F1}">
                  <asvg:svgBlip xmlns:asvg="http://schemas.microsoft.com/office/drawing/2016/SVG/main" r:embed="rId3"/>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7/12/2026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a:extLst>
                <a:ext uri="{96DAC541-7B7A-43D3-8B79-37D633B846F1}">
                  <asvg:svgBlip xmlns:asvg="http://schemas.microsoft.com/office/drawing/2016/SVG/main" r:embed="rId3"/>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77643678-0F5B-564C-A597-241F698EF6B4}" type="datetime1">
              <a:rPr lang="en-US" smtClean="0"/>
              <a:pPr/>
              <a:t>7/12/2026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a:extLst>
                <a:ext uri="{96DAC541-7B7A-43D3-8B79-37D633B846F1}">
                  <asvg:svgBlip xmlns:asvg="http://schemas.microsoft.com/office/drawing/2016/SVG/main" r:embed="rId3"/>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77643678-0F5B-564C-A597-241F698EF6B4}" type="datetime1">
              <a:rPr lang="en-US" smtClean="0"/>
              <a:pPr/>
              <a:t>7/12/2026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77643678-0F5B-564C-A597-241F698EF6B4}" type="datetime1">
              <a:rPr lang="en-US" smtClean="0"/>
              <a:pPr/>
              <a:t>7/12/2026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77643678-0F5B-564C-A597-241F698EF6B4}" type="datetime1">
              <a:rPr lang="en-US" smtClean="0"/>
              <a:pPr/>
              <a:t>7/12/2026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77643678-0F5B-564C-A597-241F698EF6B4}" type="datetime1">
              <a:rPr lang="en-US" smtClean="0"/>
              <a:t>7/12/2026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77643678-0F5B-564C-A597-241F698EF6B4}" type="datetime1">
              <a:rPr lang="en-US" smtClean="0"/>
              <a:t>7/12/2026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77643678-0F5B-564C-A597-241F698EF6B4}" type="datetime1">
              <a:rPr lang="en-US" smtClean="0"/>
              <a:t>7/12/2026</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CONTENT</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B14CF30-9A72-6841-BB42-CFA3EC5EE1FA}" type="datetime1">
              <a:rPr lang="en-US" smtClean="0"/>
              <a:t>7/12/2026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B567F918-D731-F949-BFA2-99DC86212F53}" type="datetime1">
              <a:rPr lang="en-US" smtClean="0"/>
              <a:t>7/12/2026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dirty="0"/>
              <a:t>© 2025–2027 Cognizant | Private</a:t>
            </a:r>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CD6FB6BF-6617-D64D-B620-750DF5173AE2}" type="datetime1">
              <a:rPr lang="en-US" smtClean="0"/>
              <a:t>7/12/2026</a:t>
            </a:fld>
            <a:endParaRPr lang="en-US" dirty="0"/>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dirty="0"/>
              <a:t>© 2025–2027 Cognizant | Private</a:t>
            </a:r>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8D0CC1A4-EC1E-954F-93E3-20FAE017D170}" type="datetime1">
              <a:rPr lang="en-US" smtClean="0"/>
              <a:t>7/12/2026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dirty="0"/>
              <a:t>© 2025–2027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2C2AF87E-BB6C-C34C-94E2-85566BBDC140}" type="datetime1">
              <a:rPr lang="en-US" smtClean="0"/>
              <a:t>7/12/2026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dirty="0"/>
              <a:t>© 2025–2027 Cognizant | Private</a:t>
            </a:r>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BBF0144B-5F91-4D45-8592-3540D443DD15}" type="datetime1">
              <a:rPr lang="en-US" smtClean="0"/>
              <a:t>7/12/2026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dirty="0"/>
              <a:t>© 2025–2027 Cognizant | Private</a:t>
            </a:r>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00A4357C-AC8D-DC4C-9095-09E2CD5356C5}" type="datetime1">
              <a:rPr lang="en-US" smtClean="0"/>
              <a:t>7/12/2026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93B28A36-1925-7444-A23C-A0E414D27D50}" type="datetime1">
              <a:rPr lang="en-US" smtClean="0"/>
              <a:t>7/12/2026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201B2EF-4305-1641-9FC3-B27A37707FB8}" type="datetime1">
              <a:rPr lang="en-US" smtClean="0"/>
              <a:t>7/12/2026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7F9FA7AC-0CA4-A94F-B9AD-913C6E27D52C}" type="datetime1">
              <a:rPr lang="en-US" smtClean="0"/>
              <a:t>7/12/2026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dirty="0"/>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C7A24A1D-F3BF-1A41-B122-C74AA003EAC6}" type="datetime1">
              <a:rPr lang="en-US" smtClean="0"/>
              <a:t>7/12/2026</a:t>
            </a:fld>
            <a:endParaRPr lang="en-US" dirty="0"/>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dirty="0"/>
              <a:t>© 2025–2027 Cognizant | Private</a:t>
            </a:r>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FAFDDD03-639A-8D4E-860C-2002B6D03365}" type="datetime1">
              <a:rPr lang="en-US" smtClean="0"/>
              <a:pPr/>
              <a:t>7/12/2026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FAFDDD03-639A-8D4E-860C-2002B6D03365}" type="datetime1">
              <a:rPr lang="en-US" smtClean="0"/>
              <a:pPr/>
              <a:t>7/12/2026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DARK 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62B992DF-0A30-4346-A305-F697A2247CA4}" type="datetime1">
              <a:rPr lang="en-US" smtClean="0"/>
              <a:t>7/12/2026</a:t>
            </a:fld>
            <a:endParaRPr lang="en-US" dirty="0"/>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F038E6F7-2112-7146-A379-7AD5AE1DBC42}" type="datetime1">
              <a:rPr lang="en-US" smtClean="0"/>
              <a:t>7/12/2026</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dirty="0"/>
              <a:t>© 2025–2027 Cognizant | Private</a:t>
            </a:r>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95A8BB47-FFEE-CC40-B60B-C46D6D449673}" type="datetime1">
              <a:rPr lang="en-US" smtClean="0"/>
              <a:t>7/12/2026</a:t>
            </a:fld>
            <a:endParaRPr lang="en-US" dirty="0"/>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8D0CC1A4-EC1E-954F-93E3-20FAE017D170}" type="datetime1">
              <a:rPr lang="en-US" smtClean="0"/>
              <a:t>7/12/2026</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dirty="0"/>
              <a:t>© 2025–2027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a:t>
            </a:r>
          </a:p>
          <a:p>
            <a:pPr lvl="4"/>
            <a:r>
              <a:rPr lang="en-US" dirty="0"/>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D58F847-15B5-FC42-B011-59EA55B0831B}" type="datetime1">
              <a:rPr lang="en-US" smtClean="0"/>
              <a:t>7/12/2026</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dirty="0"/>
              <a:t>© 2025–2027 Cognizant | Private</a:t>
            </a:r>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13D1F7B9-93C8-664D-A904-37BC09BC8A3C}" type="datetime1">
              <a:rPr lang="en-US" smtClean="0"/>
              <a:t>7/12/2026</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dirty="0"/>
              <a:t>© 2025–2027 Cognizant | Private</a:t>
            </a:r>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58CC89B-9FBC-D34F-9643-4C80243D9DBA}" type="datetime1">
              <a:rPr lang="en-US" smtClean="0"/>
              <a:t>7/12/2026</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dirty="0"/>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93B28A36-1925-7444-A23C-A0E414D27D50}" type="datetime1">
              <a:rPr lang="en-US" smtClean="0"/>
              <a:t>7/12/2026</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201B2EF-4305-1641-9FC3-B27A37707FB8}" type="datetime1">
              <a:rPr lang="en-US" smtClean="0"/>
              <a:t>7/12/2026</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7F9FA7AC-0CA4-A94F-B9AD-913C6E27D52C}" type="datetime1">
              <a:rPr lang="en-US" smtClean="0"/>
              <a:t>7/12/2026</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D4262893-26CE-4342-A3C5-68D2643A2179}" type="datetime1">
              <a:rPr lang="en-US" smtClean="0"/>
              <a:t>7/12/2026</a:t>
            </a:fld>
            <a:endParaRPr lang="en-US" dirty="0"/>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dirty="0"/>
              <a:t>© 2025–2027 Cognizant | Private</a:t>
            </a:r>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dirty="0"/>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IMAGERY</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8EB84BCC-F734-8048-8197-BE14B7B6EE4C}" type="datetime1">
              <a:rPr lang="en-US" smtClean="0"/>
              <a:pPr/>
              <a:t>7/12/2026</a:t>
            </a:fld>
            <a:endParaRPr lang="en-US" dirty="0"/>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dirty="0"/>
              <a:t>© 2025–2027 Cognizant | Private</a:t>
            </a:r>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Master title style</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BAA31C55-5292-5C45-AD5F-2C80F4D4A844}" type="datetime1">
              <a:rPr lang="en-US" smtClean="0"/>
              <a:t>7/12/2026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Master title style</a:t>
            </a:r>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FAFDDD03-639A-8D4E-860C-2002B6D03365}" type="datetime1">
              <a:rPr lang="en-US" smtClean="0"/>
              <a:t>7/12/2026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BAA31C55-5292-5C45-AD5F-2C80F4D4A844}" type="datetime1">
              <a:rPr lang="en-US" smtClean="0"/>
              <a:t>7/12/2026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BAA31C55-5292-5C45-AD5F-2C80F4D4A844}" type="datetime1">
              <a:rPr lang="en-US" smtClean="0"/>
              <a:t>7/12/2026</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FAFDDD03-639A-8D4E-860C-2002B6D03365}" type="datetime1">
              <a:rPr lang="en-US" smtClean="0"/>
              <a:pPr/>
              <a:t>7/12/2026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FAFDDD03-639A-8D4E-860C-2002B6D03365}" type="datetime1">
              <a:rPr lang="en-US" smtClean="0"/>
              <a:pPr/>
              <a:t>7/12/2026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FAFDDD03-639A-8D4E-860C-2002B6D03365}" type="datetime1">
              <a:rPr lang="en-US" smtClean="0"/>
              <a:pPr/>
              <a:t>7/12/2026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FAFDDD03-639A-8D4E-860C-2002B6D03365}" type="datetime1">
              <a:rPr lang="en-US" smtClean="0"/>
              <a:pPr/>
              <a:t>7/12/2026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FAFDDD03-639A-8D4E-860C-2002B6D03365}" type="datetime1">
              <a:rPr lang="en-US" smtClean="0"/>
              <a:pPr/>
              <a:t>7/12/2026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FAFDDD03-639A-8D4E-860C-2002B6D03365}" type="datetime1">
              <a:rPr lang="en-US" smtClean="0"/>
              <a:pPr/>
              <a:t>7/12/2026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FAFDDD03-639A-8D4E-860C-2002B6D03365}" type="datetime1">
              <a:rPr lang="en-US" smtClean="0"/>
              <a:pPr/>
              <a:t>7/12/2026</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PRINT</a:t>
            </a:r>
            <a:br>
              <a:rPr kumimoji="0" lang="en-US" sz="16600" b="1" i="0" u="none" strike="noStrike" kern="0" cap="none" spc="0" normalizeH="0" baseline="0" noProof="0" dirty="0">
                <a:ln>
                  <a:noFill/>
                </a:ln>
                <a:solidFill>
                  <a:srgbClr val="FFFFFF"/>
                </a:solidFill>
                <a:effectLst/>
                <a:uLnTx/>
                <a:uFillTx/>
              </a:rPr>
            </a:br>
            <a:r>
              <a:rPr kumimoji="0" lang="en-US" sz="16600" b="1" i="0" u="none" strike="noStrike" kern="0" cap="none" spc="0" normalizeH="0" baseline="0" noProof="0" dirty="0">
                <a:ln>
                  <a:noFill/>
                </a:ln>
                <a:solidFill>
                  <a:srgbClr val="FFFFFF"/>
                </a:solidFill>
                <a:effectLst/>
                <a:uLnTx/>
                <a:uFillTx/>
              </a:rPr>
              <a:t>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8EB84BCC-F734-8048-8197-BE14B7B6EE4C}" type="datetime1">
              <a:rPr lang="en-US" smtClean="0"/>
              <a:t>7/12/2026</a:t>
            </a:fld>
            <a:endParaRPr lang="en-US" dirty="0"/>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8EB84BCC-F734-8048-8197-BE14B7B6EE4C}" type="datetime1">
              <a:rPr lang="en-US" smtClean="0"/>
              <a:t>7/12/2026</a:t>
            </a:fld>
            <a:endParaRPr lang="en-US" dirty="0"/>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dirty="0"/>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dirty="0"/>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EB84BCC-F734-8048-8197-BE14B7B6EE4C}" type="datetime1">
              <a:rPr lang="en-US" smtClean="0"/>
              <a:t>7/12/2026</a:t>
            </a:fld>
            <a:endParaRPr lang="en-US" dirty="0"/>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dirty="0"/>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dirty="0"/>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8EB84BCC-F734-8048-8197-BE14B7B6EE4C}" type="datetime1">
              <a:rPr lang="en-US" smtClean="0"/>
              <a:t>7/12/2026</a:t>
            </a:fld>
            <a:endParaRPr lang="en-US" dirty="0"/>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dirty="0"/>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dirty="0">
                <a:solidFill>
                  <a:schemeClr val="bg1"/>
                </a:solidFill>
              </a:rPr>
              <a:t>DO NOT USE </a:t>
            </a:r>
            <a:br>
              <a:rPr lang="en-US" sz="9600" b="1" dirty="0">
                <a:solidFill>
                  <a:schemeClr val="bg1"/>
                </a:solidFill>
              </a:rPr>
            </a:br>
            <a:r>
              <a:rPr lang="en-US" sz="9600" b="1" dirty="0">
                <a:solidFill>
                  <a:schemeClr val="bg1"/>
                </a:solidFill>
              </a:rPr>
              <a:t>ANY LAYOUTS </a:t>
            </a:r>
            <a:br>
              <a:rPr lang="en-US" sz="9600" b="1" dirty="0">
                <a:solidFill>
                  <a:schemeClr val="bg1"/>
                </a:solidFill>
              </a:rPr>
            </a:br>
            <a:r>
              <a:rPr lang="en-US" sz="9600" b="1" dirty="0">
                <a:solidFill>
                  <a:schemeClr val="bg1"/>
                </a:solidFill>
              </a:rPr>
              <a:t>BEYOND </a:t>
            </a:r>
            <a:br>
              <a:rPr lang="en-US" sz="9600" b="1" dirty="0">
                <a:solidFill>
                  <a:schemeClr val="bg1"/>
                </a:solidFill>
              </a:rPr>
            </a:br>
            <a:r>
              <a:rPr lang="en-US" sz="9600" b="1" dirty="0">
                <a:solidFill>
                  <a:schemeClr val="bg1"/>
                </a:solidFill>
              </a:rPr>
              <a:t>THIS POINT</a:t>
            </a:r>
          </a:p>
          <a:p>
            <a:pPr algn="ctr">
              <a:lnSpc>
                <a:spcPct val="90000"/>
              </a:lnSpc>
              <a:spcAft>
                <a:spcPts val="2400"/>
              </a:spcAft>
            </a:pPr>
            <a:r>
              <a:rPr lang="en-US" sz="3600" b="0" i="1" dirty="0">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dirty="0"/>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a:p>
            <a:pPr lvl="5"/>
            <a:r>
              <a:rPr lang="en-US" dirty="0"/>
              <a:t>6th level text</a:t>
            </a:r>
          </a:p>
          <a:p>
            <a:pPr lvl="6"/>
            <a:r>
              <a:rPr lang="en-US" dirty="0"/>
              <a:t>7th level text</a:t>
            </a:r>
          </a:p>
          <a:p>
            <a:pPr lvl="7"/>
            <a:r>
              <a:rPr lang="en-US" dirty="0"/>
              <a:t>8th level text</a:t>
            </a:r>
          </a:p>
          <a:p>
            <a:pPr lvl="8"/>
            <a:r>
              <a:rPr lang="en-US" dirty="0"/>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dirty="0"/>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dirty="0"/>
              <a:t>© 2025–2027 Cognizant | Private</a:t>
            </a:r>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8EB84BCC-F734-8048-8197-BE14B7B6EE4C}" type="datetime1">
              <a:rPr lang="en-US" smtClean="0"/>
              <a:t>7/12/2026</a:t>
            </a:fld>
            <a:endParaRPr lang="en-US" dirty="0"/>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0"/>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15.png"/><Relationship Id="rId1" Type="http://schemas.openxmlformats.org/officeDocument/2006/relationships/slideLayout" Target="../slideLayouts/slideLayout4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17.png"/><Relationship Id="rId1" Type="http://schemas.openxmlformats.org/officeDocument/2006/relationships/slideLayout" Target="../slideLayouts/slideLayout41.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5.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chart" Target="../charts/chart1.xml"/><Relationship Id="rId2" Type="http://schemas.openxmlformats.org/officeDocument/2006/relationships/image" Target="../media/image35.png"/><Relationship Id="rId1" Type="http://schemas.openxmlformats.org/officeDocument/2006/relationships/slideLayout" Target="../slideLayouts/slideLayout41.xml"/><Relationship Id="rId6" Type="http://schemas.openxmlformats.org/officeDocument/2006/relationships/image" Target="../media/image39.png"/><Relationship Id="rId11" Type="http://schemas.openxmlformats.org/officeDocument/2006/relationships/image" Target="../media/image43.png"/><Relationship Id="rId5" Type="http://schemas.openxmlformats.org/officeDocument/2006/relationships/image" Target="../media/image38.png"/><Relationship Id="rId10" Type="http://schemas.openxmlformats.org/officeDocument/2006/relationships/image" Target="../media/image42.png"/><Relationship Id="rId4" Type="http://schemas.openxmlformats.org/officeDocument/2006/relationships/image" Target="../media/image37.png"/><Relationship Id="rId9" Type="http://schemas.openxmlformats.org/officeDocument/2006/relationships/image" Target="../media/image34.png"/></Relationships>
</file>

<file path=ppt/slides/_rels/slide6.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1.png"/><Relationship Id="rId2" Type="http://schemas.openxmlformats.org/officeDocument/2006/relationships/image" Target="../media/image44.png"/><Relationship Id="rId1" Type="http://schemas.openxmlformats.org/officeDocument/2006/relationships/slideLayout" Target="../slideLayouts/slideLayout41.xml"/><Relationship Id="rId6" Type="http://schemas.openxmlformats.org/officeDocument/2006/relationships/image" Target="../media/image29.png"/><Relationship Id="rId5" Type="http://schemas.openxmlformats.org/officeDocument/2006/relationships/image" Target="../media/image25.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000" b="1">
                <a:solidFill>
                  <a:srgbClr val="FFFFFF"/>
                </a:solidFill>
                <a:latin typeface="Arial"/>
              </a:rPr>
              <a:t>Generative AI in Manufacturing</a:t>
            </a:r>
          </a:p>
        </p:txBody>
      </p:sp>
      <p:sp>
        <p:nvSpPr>
          <p:cNvPr id="3" name="Subtitle 2"/>
          <p:cNvSpPr>
            <a:spLocks noGrp="1"/>
          </p:cNvSpPr>
          <p:nvPr>
            <p:ph type="subTitle" idx="1"/>
          </p:nvPr>
        </p:nvSpPr>
        <p:spPr/>
        <p:txBody>
          <a:bodyPr/>
          <a:lstStyle/>
          <a:p>
            <a:r>
              <a:rPr>
                <a:solidFill>
                  <a:srgbClr val="92BBE6"/>
                </a:solidFill>
                <a:latin typeface="Arial"/>
              </a:rPr>
              <a:t>Applications of Generative AI in Modern Manufacturing</a:t>
            </a:r>
          </a:p>
        </p:txBody>
      </p:sp>
      <p:sp>
        <p:nvSpPr>
          <p:cNvPr id="4" name="Text Placeholder 3"/>
          <p:cNvSpPr>
            <a:spLocks noGrp="1"/>
          </p:cNvSpPr>
          <p:nvPr>
            <p:ph type="body" sz="quarter" idx="13"/>
          </p:nvPr>
        </p:nvSpPr>
        <p:spPr/>
        <p:txBody>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400" b="1">
                <a:solidFill>
                  <a:srgbClr val="FFFFFF"/>
                </a:solidFill>
                <a:latin typeface="Arial"/>
              </a:rPr>
              <a:t>Agenda</a:t>
            </a:r>
          </a:p>
        </p:txBody>
      </p:sp>
      <p:sp>
        <p:nvSpPr>
          <p:cNvPr id="3" name="Oval 2"/>
          <p:cNvSpPr/>
          <p:nvPr/>
        </p:nvSpPr>
        <p:spPr>
          <a:xfrm>
            <a:off x="6172200" y="960120"/>
            <a:ext cx="402336" cy="402336"/>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nfo_white.png"/>
          <p:cNvPicPr>
            <a:picLocks noChangeAspect="1"/>
          </p:cNvPicPr>
          <p:nvPr/>
        </p:nvPicPr>
        <p:blipFill>
          <a:blip r:embed="rId2"/>
          <a:stretch>
            <a:fillRect/>
          </a:stretch>
        </p:blipFill>
        <p:spPr>
          <a:xfrm>
            <a:off x="6254496" y="1042416"/>
            <a:ext cx="237744" cy="237744"/>
          </a:xfrm>
          <a:prstGeom prst="rect">
            <a:avLst/>
          </a:prstGeom>
        </p:spPr>
      </p:pic>
      <p:sp>
        <p:nvSpPr>
          <p:cNvPr id="5" name="TextBox 4"/>
          <p:cNvSpPr txBox="1"/>
          <p:nvPr/>
        </p:nvSpPr>
        <p:spPr>
          <a:xfrm>
            <a:off x="6775704" y="960120"/>
            <a:ext cx="4572000" cy="402336"/>
          </a:xfrm>
          <a:prstGeom prst="rect">
            <a:avLst/>
          </a:prstGeom>
          <a:noFill/>
        </p:spPr>
        <p:txBody>
          <a:bodyPr wrap="square" lIns="0" tIns="0" rIns="0" bIns="0" anchor="ctr">
            <a:spAutoFit/>
          </a:bodyPr>
          <a:lstStyle/>
          <a:p>
            <a:pPr algn="l">
              <a:buNone/>
            </a:pPr>
            <a:r>
              <a:rPr sz="1500" b="1" i="0">
                <a:solidFill>
                  <a:srgbClr val="FFFFFF"/>
                </a:solidFill>
                <a:latin typeface="Arial"/>
              </a:rPr>
              <a:t>01   Introduction</a:t>
            </a:r>
          </a:p>
        </p:txBody>
      </p:sp>
      <p:sp>
        <p:nvSpPr>
          <p:cNvPr id="6" name="Oval 5"/>
          <p:cNvSpPr/>
          <p:nvPr/>
        </p:nvSpPr>
        <p:spPr>
          <a:xfrm>
            <a:off x="6172200" y="1586484"/>
            <a:ext cx="402336" cy="402336"/>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wrench_white.png"/>
          <p:cNvPicPr>
            <a:picLocks noChangeAspect="1"/>
          </p:cNvPicPr>
          <p:nvPr/>
        </p:nvPicPr>
        <p:blipFill>
          <a:blip r:embed="rId3"/>
          <a:stretch>
            <a:fillRect/>
          </a:stretch>
        </p:blipFill>
        <p:spPr>
          <a:xfrm>
            <a:off x="6254496" y="1668780"/>
            <a:ext cx="237744" cy="237744"/>
          </a:xfrm>
          <a:prstGeom prst="rect">
            <a:avLst/>
          </a:prstGeom>
        </p:spPr>
      </p:pic>
      <p:sp>
        <p:nvSpPr>
          <p:cNvPr id="8" name="TextBox 7"/>
          <p:cNvSpPr txBox="1"/>
          <p:nvPr/>
        </p:nvSpPr>
        <p:spPr>
          <a:xfrm>
            <a:off x="6775704" y="1586484"/>
            <a:ext cx="4572000" cy="402336"/>
          </a:xfrm>
          <a:prstGeom prst="rect">
            <a:avLst/>
          </a:prstGeom>
          <a:noFill/>
        </p:spPr>
        <p:txBody>
          <a:bodyPr wrap="square" lIns="0" tIns="0" rIns="0" bIns="0" anchor="ctr">
            <a:spAutoFit/>
          </a:bodyPr>
          <a:lstStyle/>
          <a:p>
            <a:pPr algn="l">
              <a:buNone/>
            </a:pPr>
            <a:r>
              <a:rPr sz="1500" b="1" i="0">
                <a:solidFill>
                  <a:srgbClr val="FFFFFF"/>
                </a:solidFill>
                <a:latin typeface="Arial"/>
              </a:rPr>
              <a:t>02   Predictive maintenance</a:t>
            </a:r>
          </a:p>
        </p:txBody>
      </p:sp>
      <p:sp>
        <p:nvSpPr>
          <p:cNvPr id="9" name="Oval 8"/>
          <p:cNvSpPr/>
          <p:nvPr/>
        </p:nvSpPr>
        <p:spPr>
          <a:xfrm>
            <a:off x="6172200" y="2212848"/>
            <a:ext cx="402336" cy="402336"/>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checkcircle_white.png"/>
          <p:cNvPicPr>
            <a:picLocks noChangeAspect="1"/>
          </p:cNvPicPr>
          <p:nvPr/>
        </p:nvPicPr>
        <p:blipFill>
          <a:blip r:embed="rId4"/>
          <a:stretch>
            <a:fillRect/>
          </a:stretch>
        </p:blipFill>
        <p:spPr>
          <a:xfrm>
            <a:off x="6254496" y="2295144"/>
            <a:ext cx="237744" cy="237744"/>
          </a:xfrm>
          <a:prstGeom prst="rect">
            <a:avLst/>
          </a:prstGeom>
        </p:spPr>
      </p:pic>
      <p:sp>
        <p:nvSpPr>
          <p:cNvPr id="11" name="TextBox 10"/>
          <p:cNvSpPr txBox="1"/>
          <p:nvPr/>
        </p:nvSpPr>
        <p:spPr>
          <a:xfrm>
            <a:off x="6775704" y="2212848"/>
            <a:ext cx="4572000" cy="402336"/>
          </a:xfrm>
          <a:prstGeom prst="rect">
            <a:avLst/>
          </a:prstGeom>
          <a:noFill/>
        </p:spPr>
        <p:txBody>
          <a:bodyPr wrap="square" lIns="0" tIns="0" rIns="0" bIns="0" anchor="ctr">
            <a:spAutoFit/>
          </a:bodyPr>
          <a:lstStyle/>
          <a:p>
            <a:pPr algn="l">
              <a:buNone/>
            </a:pPr>
            <a:r>
              <a:rPr sz="1500" b="1" i="0">
                <a:solidFill>
                  <a:srgbClr val="FFFFFF"/>
                </a:solidFill>
                <a:latin typeface="Arial"/>
              </a:rPr>
              <a:t>03   Quality control using AI</a:t>
            </a:r>
          </a:p>
        </p:txBody>
      </p:sp>
      <p:sp>
        <p:nvSpPr>
          <p:cNvPr id="12" name="Oval 11"/>
          <p:cNvSpPr/>
          <p:nvPr/>
        </p:nvSpPr>
        <p:spPr>
          <a:xfrm>
            <a:off x="6172200" y="2839212"/>
            <a:ext cx="402336" cy="402336"/>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compass_white.png"/>
          <p:cNvPicPr>
            <a:picLocks noChangeAspect="1"/>
          </p:cNvPicPr>
          <p:nvPr/>
        </p:nvPicPr>
        <p:blipFill>
          <a:blip r:embed="rId5"/>
          <a:stretch>
            <a:fillRect/>
          </a:stretch>
        </p:blipFill>
        <p:spPr>
          <a:xfrm>
            <a:off x="6254496" y="2921508"/>
            <a:ext cx="237744" cy="237744"/>
          </a:xfrm>
          <a:prstGeom prst="rect">
            <a:avLst/>
          </a:prstGeom>
        </p:spPr>
      </p:pic>
      <p:sp>
        <p:nvSpPr>
          <p:cNvPr id="14" name="TextBox 13"/>
          <p:cNvSpPr txBox="1"/>
          <p:nvPr/>
        </p:nvSpPr>
        <p:spPr>
          <a:xfrm>
            <a:off x="6775704" y="2839212"/>
            <a:ext cx="4572000" cy="402336"/>
          </a:xfrm>
          <a:prstGeom prst="rect">
            <a:avLst/>
          </a:prstGeom>
          <a:noFill/>
        </p:spPr>
        <p:txBody>
          <a:bodyPr wrap="square" lIns="0" tIns="0" rIns="0" bIns="0" anchor="ctr">
            <a:spAutoFit/>
          </a:bodyPr>
          <a:lstStyle/>
          <a:p>
            <a:pPr algn="l">
              <a:buNone/>
            </a:pPr>
            <a:r>
              <a:rPr sz="1500" b="1" i="0">
                <a:solidFill>
                  <a:srgbClr val="FFFFFF"/>
                </a:solidFill>
                <a:latin typeface="Arial"/>
              </a:rPr>
              <a:t>04   AI-based design &amp; prototyping</a:t>
            </a:r>
          </a:p>
        </p:txBody>
      </p:sp>
      <p:sp>
        <p:nvSpPr>
          <p:cNvPr id="15" name="Oval 14"/>
          <p:cNvSpPr/>
          <p:nvPr/>
        </p:nvSpPr>
        <p:spPr>
          <a:xfrm>
            <a:off x="6172200" y="3465576"/>
            <a:ext cx="402336" cy="402336"/>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rocket_white.png"/>
          <p:cNvPicPr>
            <a:picLocks noChangeAspect="1"/>
          </p:cNvPicPr>
          <p:nvPr/>
        </p:nvPicPr>
        <p:blipFill>
          <a:blip r:embed="rId6"/>
          <a:stretch>
            <a:fillRect/>
          </a:stretch>
        </p:blipFill>
        <p:spPr>
          <a:xfrm>
            <a:off x="6254496" y="3547872"/>
            <a:ext cx="237744" cy="237744"/>
          </a:xfrm>
          <a:prstGeom prst="rect">
            <a:avLst/>
          </a:prstGeom>
        </p:spPr>
      </p:pic>
      <p:sp>
        <p:nvSpPr>
          <p:cNvPr id="17" name="TextBox 16"/>
          <p:cNvSpPr txBox="1"/>
          <p:nvPr/>
        </p:nvSpPr>
        <p:spPr>
          <a:xfrm>
            <a:off x="6775704" y="3465576"/>
            <a:ext cx="4572000" cy="402336"/>
          </a:xfrm>
          <a:prstGeom prst="rect">
            <a:avLst/>
          </a:prstGeom>
          <a:noFill/>
        </p:spPr>
        <p:txBody>
          <a:bodyPr wrap="square" lIns="0" tIns="0" rIns="0" bIns="0" anchor="ctr">
            <a:spAutoFit/>
          </a:bodyPr>
          <a:lstStyle/>
          <a:p>
            <a:pPr algn="l">
              <a:buNone/>
            </a:pPr>
            <a:r>
              <a:rPr sz="1500" b="1" i="0">
                <a:solidFill>
                  <a:srgbClr val="FFFFFF"/>
                </a:solidFill>
                <a:latin typeface="Arial"/>
              </a:rPr>
              <a:t>05   Benefits &amp; future scope</a:t>
            </a:r>
          </a:p>
        </p:txBody>
      </p:sp>
      <p:sp>
        <p:nvSpPr>
          <p:cNvPr id="18" name="Oval 17"/>
          <p:cNvSpPr/>
          <p:nvPr/>
        </p:nvSpPr>
        <p:spPr>
          <a:xfrm>
            <a:off x="6172200" y="4091940"/>
            <a:ext cx="402336" cy="402336"/>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globe_white.png"/>
          <p:cNvPicPr>
            <a:picLocks noChangeAspect="1"/>
          </p:cNvPicPr>
          <p:nvPr/>
        </p:nvPicPr>
        <p:blipFill>
          <a:blip r:embed="rId7"/>
          <a:stretch>
            <a:fillRect/>
          </a:stretch>
        </p:blipFill>
        <p:spPr>
          <a:xfrm>
            <a:off x="6254496" y="4174236"/>
            <a:ext cx="237744" cy="237744"/>
          </a:xfrm>
          <a:prstGeom prst="rect">
            <a:avLst/>
          </a:prstGeom>
        </p:spPr>
      </p:pic>
      <p:sp>
        <p:nvSpPr>
          <p:cNvPr id="20" name="TextBox 19"/>
          <p:cNvSpPr txBox="1"/>
          <p:nvPr/>
        </p:nvSpPr>
        <p:spPr>
          <a:xfrm>
            <a:off x="6775704" y="4091940"/>
            <a:ext cx="4572000" cy="402336"/>
          </a:xfrm>
          <a:prstGeom prst="rect">
            <a:avLst/>
          </a:prstGeom>
          <a:noFill/>
        </p:spPr>
        <p:txBody>
          <a:bodyPr wrap="square" lIns="0" tIns="0" rIns="0" bIns="0" anchor="ctr">
            <a:spAutoFit/>
          </a:bodyPr>
          <a:lstStyle/>
          <a:p>
            <a:pPr algn="l">
              <a:buNone/>
            </a:pPr>
            <a:r>
              <a:rPr sz="1500" b="1" i="0">
                <a:solidFill>
                  <a:srgbClr val="FFFFFF"/>
                </a:solidFill>
                <a:latin typeface="Arial"/>
              </a:rPr>
              <a:t>06   Real-world applications</a:t>
            </a:r>
          </a:p>
        </p:txBody>
      </p:sp>
      <p:sp>
        <p:nvSpPr>
          <p:cNvPr id="21" name="Oval 20"/>
          <p:cNvSpPr/>
          <p:nvPr/>
        </p:nvSpPr>
        <p:spPr>
          <a:xfrm>
            <a:off x="6172200" y="4718304"/>
            <a:ext cx="402336" cy="402336"/>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puzzle_white.png"/>
          <p:cNvPicPr>
            <a:picLocks noChangeAspect="1"/>
          </p:cNvPicPr>
          <p:nvPr/>
        </p:nvPicPr>
        <p:blipFill>
          <a:blip r:embed="rId8"/>
          <a:stretch>
            <a:fillRect/>
          </a:stretch>
        </p:blipFill>
        <p:spPr>
          <a:xfrm>
            <a:off x="6254496" y="4800600"/>
            <a:ext cx="237744" cy="237744"/>
          </a:xfrm>
          <a:prstGeom prst="rect">
            <a:avLst/>
          </a:prstGeom>
        </p:spPr>
      </p:pic>
      <p:sp>
        <p:nvSpPr>
          <p:cNvPr id="23" name="TextBox 22"/>
          <p:cNvSpPr txBox="1"/>
          <p:nvPr/>
        </p:nvSpPr>
        <p:spPr>
          <a:xfrm>
            <a:off x="6775704" y="4718304"/>
            <a:ext cx="4572000" cy="402336"/>
          </a:xfrm>
          <a:prstGeom prst="rect">
            <a:avLst/>
          </a:prstGeom>
          <a:noFill/>
        </p:spPr>
        <p:txBody>
          <a:bodyPr wrap="square" lIns="0" tIns="0" rIns="0" bIns="0" anchor="ctr">
            <a:spAutoFit/>
          </a:bodyPr>
          <a:lstStyle/>
          <a:p>
            <a:pPr algn="l">
              <a:buNone/>
            </a:pPr>
            <a:r>
              <a:rPr sz="1500" b="1" i="0">
                <a:solidFill>
                  <a:srgbClr val="FFFFFF"/>
                </a:solidFill>
                <a:latin typeface="Arial"/>
              </a:rPr>
              <a:t>07   Crossword puzzle</a:t>
            </a:r>
          </a:p>
        </p:txBody>
      </p:sp>
      <p:sp>
        <p:nvSpPr>
          <p:cNvPr id="24" name="Oval 23"/>
          <p:cNvSpPr/>
          <p:nvPr/>
        </p:nvSpPr>
        <p:spPr>
          <a:xfrm>
            <a:off x="6172200" y="5344668"/>
            <a:ext cx="402336" cy="402336"/>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comments_white.png"/>
          <p:cNvPicPr>
            <a:picLocks noChangeAspect="1"/>
          </p:cNvPicPr>
          <p:nvPr/>
        </p:nvPicPr>
        <p:blipFill>
          <a:blip r:embed="rId9"/>
          <a:stretch>
            <a:fillRect/>
          </a:stretch>
        </p:blipFill>
        <p:spPr>
          <a:xfrm>
            <a:off x="6254496" y="5426964"/>
            <a:ext cx="237744" cy="237744"/>
          </a:xfrm>
          <a:prstGeom prst="rect">
            <a:avLst/>
          </a:prstGeom>
        </p:spPr>
      </p:pic>
      <p:sp>
        <p:nvSpPr>
          <p:cNvPr id="26" name="TextBox 25"/>
          <p:cNvSpPr txBox="1"/>
          <p:nvPr/>
        </p:nvSpPr>
        <p:spPr>
          <a:xfrm>
            <a:off x="6775704" y="5344668"/>
            <a:ext cx="4572000" cy="402336"/>
          </a:xfrm>
          <a:prstGeom prst="rect">
            <a:avLst/>
          </a:prstGeom>
          <a:noFill/>
        </p:spPr>
        <p:txBody>
          <a:bodyPr wrap="square" lIns="0" tIns="0" rIns="0" bIns="0" anchor="ctr">
            <a:spAutoFit/>
          </a:bodyPr>
          <a:lstStyle/>
          <a:p>
            <a:pPr algn="l">
              <a:buNone/>
            </a:pPr>
            <a:r>
              <a:rPr sz="1500" b="1" i="0">
                <a:solidFill>
                  <a:srgbClr val="FFFFFF"/>
                </a:solidFill>
                <a:latin typeface="Arial"/>
              </a:rPr>
              <a:t>08   Q&amp;A</a:t>
            </a:r>
          </a:p>
        </p:txBody>
      </p:sp>
      <p:cxnSp>
        <p:nvCxnSpPr>
          <p:cNvPr id="27" name="Connector 26"/>
          <p:cNvCxnSpPr/>
          <p:nvPr/>
        </p:nvCxnSpPr>
        <p:spPr>
          <a:xfrm>
            <a:off x="5989320" y="868680"/>
            <a:ext cx="0" cy="4937760"/>
          </a:xfrm>
          <a:prstGeom prst="line">
            <a:avLst/>
          </a:prstGeom>
          <a:ln w="12700">
            <a:solidFill>
              <a:srgbClr val="3A3A5C"/>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760"/>
            <a:ext cx="11274552" cy="685800"/>
          </a:xfrm>
        </p:spPr>
        <p:txBody>
          <a:bodyPr/>
          <a:lstStyle/>
          <a:p>
            <a:r>
              <a:rPr sz="2800" b="1">
                <a:solidFill>
                  <a:srgbClr val="FFFFFF"/>
                </a:solidFill>
                <a:latin typeface="Arial"/>
              </a:rPr>
              <a:t>Predictive maintenance and quality control</a:t>
            </a:r>
          </a:p>
        </p:txBody>
      </p:sp>
      <p:sp>
        <p:nvSpPr>
          <p:cNvPr id="3" name="Oval 2"/>
          <p:cNvSpPr/>
          <p:nvPr/>
        </p:nvSpPr>
        <p:spPr>
          <a:xfrm>
            <a:off x="548640" y="1417320"/>
            <a:ext cx="457200" cy="457200"/>
          </a:xfrm>
          <a:prstGeom prst="ellipse">
            <a:avLst/>
          </a:prstGeom>
          <a:solidFill>
            <a:srgbClr val="058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wrench_white.png"/>
          <p:cNvPicPr>
            <a:picLocks noChangeAspect="1"/>
          </p:cNvPicPr>
          <p:nvPr/>
        </p:nvPicPr>
        <p:blipFill>
          <a:blip r:embed="rId2"/>
          <a:stretch>
            <a:fillRect/>
          </a:stretch>
        </p:blipFill>
        <p:spPr>
          <a:xfrm>
            <a:off x="630936" y="1499616"/>
            <a:ext cx="292608" cy="292608"/>
          </a:xfrm>
          <a:prstGeom prst="rect">
            <a:avLst/>
          </a:prstGeom>
        </p:spPr>
      </p:pic>
      <p:sp>
        <p:nvSpPr>
          <p:cNvPr id="5" name="TextBox 4"/>
          <p:cNvSpPr txBox="1"/>
          <p:nvPr/>
        </p:nvSpPr>
        <p:spPr>
          <a:xfrm>
            <a:off x="1143000" y="1417320"/>
            <a:ext cx="4480559" cy="457200"/>
          </a:xfrm>
          <a:prstGeom prst="rect">
            <a:avLst/>
          </a:prstGeom>
          <a:noFill/>
        </p:spPr>
        <p:txBody>
          <a:bodyPr wrap="square" lIns="0" tIns="0" rIns="0" bIns="0" anchor="ctr">
            <a:spAutoFit/>
          </a:bodyPr>
          <a:lstStyle/>
          <a:p>
            <a:pPr algn="l">
              <a:buNone/>
            </a:pPr>
            <a:r>
              <a:rPr sz="1800" b="1" i="0">
                <a:solidFill>
                  <a:srgbClr val="FFFFFF"/>
                </a:solidFill>
                <a:latin typeface="Arial"/>
              </a:rPr>
              <a:t>Predictive maintenance</a:t>
            </a:r>
          </a:p>
        </p:txBody>
      </p:sp>
      <p:sp>
        <p:nvSpPr>
          <p:cNvPr id="6" name="TextBox 5"/>
          <p:cNvSpPr txBox="1"/>
          <p:nvPr/>
        </p:nvSpPr>
        <p:spPr>
          <a:xfrm>
            <a:off x="594360" y="2057400"/>
            <a:ext cx="4983480" cy="1920240"/>
          </a:xfrm>
          <a:prstGeom prst="rect">
            <a:avLst/>
          </a:prstGeom>
          <a:noFill/>
        </p:spPr>
        <p:txBody>
          <a:bodyPr wrap="square" lIns="0" tIns="0" rIns="0" bIns="0" anchor="t">
            <a:spAutoFit/>
          </a:bodyPr>
          <a:lstStyle/>
          <a:p>
            <a:pPr algn="l">
              <a:spcAft>
                <a:spcPts val="800"/>
              </a:spcAft>
              <a:buFont typeface="Arial"/>
              <a:buChar char="•"/>
            </a:pPr>
            <a:r>
              <a:rPr sz="1350" b="0" i="0">
                <a:solidFill>
                  <a:srgbClr val="FFFFFF"/>
                </a:solidFill>
                <a:latin typeface="Arial"/>
              </a:rPr>
              <a:t>AI predicts machine failures before breakdown</a:t>
            </a:r>
          </a:p>
          <a:p>
            <a:pPr algn="l">
              <a:spcAft>
                <a:spcPts val="800"/>
              </a:spcAft>
              <a:buFont typeface="Arial"/>
              <a:buChar char="•"/>
            </a:pPr>
            <a:r>
              <a:rPr sz="1350" b="0" i="0">
                <a:solidFill>
                  <a:srgbClr val="FFFFFF"/>
                </a:solidFill>
                <a:latin typeface="Arial"/>
              </a:rPr>
              <a:t>Uses IoT sensors and machine data</a:t>
            </a:r>
          </a:p>
          <a:p>
            <a:pPr algn="l">
              <a:spcAft>
                <a:spcPts val="800"/>
              </a:spcAft>
              <a:buFont typeface="Arial"/>
              <a:buChar char="•"/>
            </a:pPr>
            <a:r>
              <a:rPr sz="1350" b="0" i="0">
                <a:solidFill>
                  <a:srgbClr val="FFFFFF"/>
                </a:solidFill>
                <a:latin typeface="Arial"/>
              </a:rPr>
              <a:t>Reduces unplanned downtime</a:t>
            </a:r>
          </a:p>
          <a:p>
            <a:pPr algn="l">
              <a:spcAft>
                <a:spcPts val="800"/>
              </a:spcAft>
              <a:buFont typeface="Arial"/>
              <a:buChar char="•"/>
            </a:pPr>
            <a:r>
              <a:rPr sz="1350" b="0" i="0">
                <a:solidFill>
                  <a:srgbClr val="FFFFFF"/>
                </a:solidFill>
                <a:latin typeface="Arial"/>
              </a:rPr>
              <a:t>Lowers maintenance costs</a:t>
            </a:r>
          </a:p>
          <a:p>
            <a:pPr algn="l">
              <a:spcAft>
                <a:spcPts val="800"/>
              </a:spcAft>
              <a:buFont typeface="Arial"/>
              <a:buChar char="•"/>
            </a:pPr>
            <a:r>
              <a:rPr sz="1350" b="0" i="0">
                <a:solidFill>
                  <a:srgbClr val="FFFFFF"/>
                </a:solidFill>
                <a:latin typeface="Arial"/>
              </a:rPr>
              <a:t>Improves equipment lifespan</a:t>
            </a:r>
          </a:p>
        </p:txBody>
      </p:sp>
      <p:sp>
        <p:nvSpPr>
          <p:cNvPr id="7" name="Oval 6"/>
          <p:cNvSpPr/>
          <p:nvPr/>
        </p:nvSpPr>
        <p:spPr>
          <a:xfrm>
            <a:off x="5989320" y="1417320"/>
            <a:ext cx="457200" cy="457200"/>
          </a:xfrm>
          <a:prstGeom prst="ellipse">
            <a:avLst/>
          </a:prstGeom>
          <a:solidFill>
            <a:srgbClr val="058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amera_white.png"/>
          <p:cNvPicPr>
            <a:picLocks noChangeAspect="1"/>
          </p:cNvPicPr>
          <p:nvPr/>
        </p:nvPicPr>
        <p:blipFill>
          <a:blip r:embed="rId3"/>
          <a:stretch>
            <a:fillRect/>
          </a:stretch>
        </p:blipFill>
        <p:spPr>
          <a:xfrm>
            <a:off x="6071616" y="1499616"/>
            <a:ext cx="292608" cy="292608"/>
          </a:xfrm>
          <a:prstGeom prst="rect">
            <a:avLst/>
          </a:prstGeom>
        </p:spPr>
      </p:pic>
      <p:sp>
        <p:nvSpPr>
          <p:cNvPr id="9" name="TextBox 8"/>
          <p:cNvSpPr txBox="1"/>
          <p:nvPr/>
        </p:nvSpPr>
        <p:spPr>
          <a:xfrm>
            <a:off x="6583680" y="1417320"/>
            <a:ext cx="4480559" cy="457200"/>
          </a:xfrm>
          <a:prstGeom prst="rect">
            <a:avLst/>
          </a:prstGeom>
          <a:noFill/>
        </p:spPr>
        <p:txBody>
          <a:bodyPr wrap="square" lIns="0" tIns="0" rIns="0" bIns="0" anchor="ctr">
            <a:spAutoFit/>
          </a:bodyPr>
          <a:lstStyle/>
          <a:p>
            <a:pPr algn="l">
              <a:buNone/>
            </a:pPr>
            <a:r>
              <a:rPr sz="1800" b="1" i="0">
                <a:solidFill>
                  <a:srgbClr val="FFFFFF"/>
                </a:solidFill>
                <a:latin typeface="Arial"/>
              </a:rPr>
              <a:t>Quality control</a:t>
            </a:r>
          </a:p>
        </p:txBody>
      </p:sp>
      <p:sp>
        <p:nvSpPr>
          <p:cNvPr id="10" name="TextBox 9"/>
          <p:cNvSpPr txBox="1"/>
          <p:nvPr/>
        </p:nvSpPr>
        <p:spPr>
          <a:xfrm>
            <a:off x="6035040" y="2057400"/>
            <a:ext cx="4983480" cy="1920240"/>
          </a:xfrm>
          <a:prstGeom prst="rect">
            <a:avLst/>
          </a:prstGeom>
          <a:noFill/>
        </p:spPr>
        <p:txBody>
          <a:bodyPr wrap="square" lIns="0" tIns="0" rIns="0" bIns="0" anchor="t">
            <a:spAutoFit/>
          </a:bodyPr>
          <a:lstStyle/>
          <a:p>
            <a:pPr algn="l">
              <a:spcAft>
                <a:spcPts val="800"/>
              </a:spcAft>
              <a:buFont typeface="Arial"/>
              <a:buChar char="•"/>
            </a:pPr>
            <a:r>
              <a:rPr sz="1350" b="0" i="0">
                <a:solidFill>
                  <a:srgbClr val="FFFFFF"/>
                </a:solidFill>
                <a:latin typeface="Arial"/>
              </a:rPr>
              <a:t>AI detects manufacturing defects</a:t>
            </a:r>
          </a:p>
          <a:p>
            <a:pPr algn="l">
              <a:spcAft>
                <a:spcPts val="800"/>
              </a:spcAft>
              <a:buFont typeface="Arial"/>
              <a:buChar char="•"/>
            </a:pPr>
            <a:r>
              <a:rPr sz="1350" b="0" i="0">
                <a:solidFill>
                  <a:srgbClr val="FFFFFF"/>
                </a:solidFill>
                <a:latin typeface="Arial"/>
              </a:rPr>
              <a:t>Computer vision inspections</a:t>
            </a:r>
          </a:p>
          <a:p>
            <a:pPr algn="l">
              <a:spcAft>
                <a:spcPts val="800"/>
              </a:spcAft>
              <a:buFont typeface="Arial"/>
              <a:buChar char="•"/>
            </a:pPr>
            <a:r>
              <a:rPr sz="1350" b="0" i="0">
                <a:solidFill>
                  <a:srgbClr val="FFFFFF"/>
                </a:solidFill>
                <a:latin typeface="Arial"/>
              </a:rPr>
              <a:t>Faster inspection process</a:t>
            </a:r>
          </a:p>
          <a:p>
            <a:pPr algn="l">
              <a:spcAft>
                <a:spcPts val="800"/>
              </a:spcAft>
              <a:buFont typeface="Arial"/>
              <a:buChar char="•"/>
            </a:pPr>
            <a:r>
              <a:rPr sz="1350" b="0" i="0">
                <a:solidFill>
                  <a:srgbClr val="FFFFFF"/>
                </a:solidFill>
                <a:latin typeface="Arial"/>
              </a:rPr>
              <a:t>Consistent product quality</a:t>
            </a:r>
          </a:p>
          <a:p>
            <a:pPr algn="l">
              <a:spcAft>
                <a:spcPts val="800"/>
              </a:spcAft>
              <a:buFont typeface="Arial"/>
              <a:buChar char="•"/>
            </a:pPr>
            <a:r>
              <a:rPr sz="1350" b="0" i="0">
                <a:solidFill>
                  <a:srgbClr val="FFFFFF"/>
                </a:solidFill>
                <a:latin typeface="Arial"/>
              </a:rPr>
              <a:t>Reduces human error</a:t>
            </a:r>
          </a:p>
        </p:txBody>
      </p:sp>
      <p:cxnSp>
        <p:nvCxnSpPr>
          <p:cNvPr id="11" name="Connector 10"/>
          <p:cNvCxnSpPr/>
          <p:nvPr/>
        </p:nvCxnSpPr>
        <p:spPr>
          <a:xfrm>
            <a:off x="5760720" y="1417320"/>
            <a:ext cx="0" cy="2560319"/>
          </a:xfrm>
          <a:prstGeom prst="line">
            <a:avLst/>
          </a:prstGeom>
          <a:ln w="12700">
            <a:solidFill>
              <a:srgbClr val="3A3A5C"/>
            </a:solidFill>
          </a:ln>
          <a:effectLst/>
        </p:spPr>
        <p:style>
          <a:lnRef idx="2">
            <a:schemeClr val="accent1"/>
          </a:lnRef>
          <a:fillRef idx="0">
            <a:schemeClr val="accent1"/>
          </a:fillRef>
          <a:effectRef idx="1">
            <a:schemeClr val="accent1"/>
          </a:effectRef>
          <a:fontRef idx="minor">
            <a:schemeClr val="tx1"/>
          </a:fontRef>
        </p:style>
      </p:cxnSp>
      <p:pic>
        <p:nvPicPr>
          <p:cNvPr id="12" name="Picture 11" descr="gauge_lightblue.png"/>
          <p:cNvPicPr>
            <a:picLocks noChangeAspect="1"/>
          </p:cNvPicPr>
          <p:nvPr/>
        </p:nvPicPr>
        <p:blipFill>
          <a:blip r:embed="rId4"/>
          <a:stretch>
            <a:fillRect/>
          </a:stretch>
        </p:blipFill>
        <p:spPr>
          <a:xfrm>
            <a:off x="640080" y="4069080"/>
            <a:ext cx="457200" cy="457200"/>
          </a:xfrm>
          <a:prstGeom prst="rect">
            <a:avLst/>
          </a:prstGeom>
        </p:spPr>
      </p:pic>
      <p:sp>
        <p:nvSpPr>
          <p:cNvPr id="13" name="TextBox 12"/>
          <p:cNvSpPr txBox="1"/>
          <p:nvPr/>
        </p:nvSpPr>
        <p:spPr>
          <a:xfrm>
            <a:off x="1188719" y="4069080"/>
            <a:ext cx="1828800" cy="457200"/>
          </a:xfrm>
          <a:prstGeom prst="rect">
            <a:avLst/>
          </a:prstGeom>
          <a:noFill/>
        </p:spPr>
        <p:txBody>
          <a:bodyPr wrap="square" lIns="0" tIns="0" rIns="0" bIns="0" anchor="ctr">
            <a:spAutoFit/>
          </a:bodyPr>
          <a:lstStyle/>
          <a:p>
            <a:pPr algn="l">
              <a:buNone/>
            </a:pPr>
            <a:r>
              <a:rPr sz="1000" b="0" i="0">
                <a:solidFill>
                  <a:srgbClr val="D0D0CE"/>
                </a:solidFill>
                <a:latin typeface="Arial"/>
              </a:rPr>
              <a:t>AI monitoring
dashboard</a:t>
            </a:r>
          </a:p>
        </p:txBody>
      </p:sp>
      <p:pic>
        <p:nvPicPr>
          <p:cNvPr id="14" name="Picture 13" descr="wifi_lightblue.png"/>
          <p:cNvPicPr>
            <a:picLocks noChangeAspect="1"/>
          </p:cNvPicPr>
          <p:nvPr/>
        </p:nvPicPr>
        <p:blipFill>
          <a:blip r:embed="rId5"/>
          <a:stretch>
            <a:fillRect/>
          </a:stretch>
        </p:blipFill>
        <p:spPr>
          <a:xfrm>
            <a:off x="3291840" y="4069080"/>
            <a:ext cx="457200" cy="457200"/>
          </a:xfrm>
          <a:prstGeom prst="rect">
            <a:avLst/>
          </a:prstGeom>
        </p:spPr>
      </p:pic>
      <p:sp>
        <p:nvSpPr>
          <p:cNvPr id="15" name="TextBox 14"/>
          <p:cNvSpPr txBox="1"/>
          <p:nvPr/>
        </p:nvSpPr>
        <p:spPr>
          <a:xfrm>
            <a:off x="3840480" y="4069080"/>
            <a:ext cx="1828800" cy="457200"/>
          </a:xfrm>
          <a:prstGeom prst="rect">
            <a:avLst/>
          </a:prstGeom>
          <a:noFill/>
        </p:spPr>
        <p:txBody>
          <a:bodyPr wrap="square" lIns="0" tIns="0" rIns="0" bIns="0" anchor="ctr">
            <a:spAutoFit/>
          </a:bodyPr>
          <a:lstStyle/>
          <a:p>
            <a:pPr algn="l">
              <a:buNone/>
            </a:pPr>
            <a:r>
              <a:rPr sz="1000" b="0" i="0">
                <a:solidFill>
                  <a:srgbClr val="D0D0CE"/>
                </a:solidFill>
                <a:latin typeface="Arial"/>
              </a:rPr>
              <a:t>Machine sensor
illustration</a:t>
            </a:r>
          </a:p>
        </p:txBody>
      </p:sp>
      <p:pic>
        <p:nvPicPr>
          <p:cNvPr id="16" name="Picture 15" descr="eye_lightblue.png"/>
          <p:cNvPicPr>
            <a:picLocks noChangeAspect="1"/>
          </p:cNvPicPr>
          <p:nvPr/>
        </p:nvPicPr>
        <p:blipFill>
          <a:blip r:embed="rId6"/>
          <a:stretch>
            <a:fillRect/>
          </a:stretch>
        </p:blipFill>
        <p:spPr>
          <a:xfrm>
            <a:off x="6080759" y="4069080"/>
            <a:ext cx="457200" cy="457200"/>
          </a:xfrm>
          <a:prstGeom prst="rect">
            <a:avLst/>
          </a:prstGeom>
        </p:spPr>
      </p:pic>
      <p:sp>
        <p:nvSpPr>
          <p:cNvPr id="17" name="TextBox 16"/>
          <p:cNvSpPr txBox="1"/>
          <p:nvPr/>
        </p:nvSpPr>
        <p:spPr>
          <a:xfrm>
            <a:off x="6629400" y="4069080"/>
            <a:ext cx="1828800" cy="457200"/>
          </a:xfrm>
          <a:prstGeom prst="rect">
            <a:avLst/>
          </a:prstGeom>
          <a:noFill/>
        </p:spPr>
        <p:txBody>
          <a:bodyPr wrap="square" lIns="0" tIns="0" rIns="0" bIns="0" anchor="ctr">
            <a:spAutoFit/>
          </a:bodyPr>
          <a:lstStyle/>
          <a:p>
            <a:pPr algn="l">
              <a:buNone/>
            </a:pPr>
            <a:r>
              <a:rPr sz="1000" b="0" i="0">
                <a:solidFill>
                  <a:srgbClr val="D0D0CE"/>
                </a:solidFill>
                <a:latin typeface="Arial"/>
              </a:rPr>
              <a:t>Vision-based
inspection</a:t>
            </a:r>
          </a:p>
        </p:txBody>
      </p:sp>
      <p:pic>
        <p:nvPicPr>
          <p:cNvPr id="18" name="Picture 17" descr="diagram_lightblue.png"/>
          <p:cNvPicPr>
            <a:picLocks noChangeAspect="1"/>
          </p:cNvPicPr>
          <p:nvPr/>
        </p:nvPicPr>
        <p:blipFill>
          <a:blip r:embed="rId7"/>
          <a:stretch>
            <a:fillRect/>
          </a:stretch>
        </p:blipFill>
        <p:spPr>
          <a:xfrm>
            <a:off x="8732520" y="4069080"/>
            <a:ext cx="457200" cy="457200"/>
          </a:xfrm>
          <a:prstGeom prst="rect">
            <a:avLst/>
          </a:prstGeom>
        </p:spPr>
      </p:pic>
      <p:sp>
        <p:nvSpPr>
          <p:cNvPr id="19" name="TextBox 18"/>
          <p:cNvSpPr txBox="1"/>
          <p:nvPr/>
        </p:nvSpPr>
        <p:spPr>
          <a:xfrm>
            <a:off x="9281160" y="4069080"/>
            <a:ext cx="1828800" cy="457200"/>
          </a:xfrm>
          <a:prstGeom prst="rect">
            <a:avLst/>
          </a:prstGeom>
          <a:noFill/>
        </p:spPr>
        <p:txBody>
          <a:bodyPr wrap="square" lIns="0" tIns="0" rIns="0" bIns="0" anchor="ctr">
            <a:spAutoFit/>
          </a:bodyPr>
          <a:lstStyle/>
          <a:p>
            <a:pPr algn="l">
              <a:buNone/>
            </a:pPr>
            <a:r>
              <a:rPr sz="1000" b="0" i="0">
                <a:solidFill>
                  <a:srgbClr val="D0D0CE"/>
                </a:solidFill>
                <a:latin typeface="Arial"/>
              </a:rPr>
              <a:t>Workflow /
process diagram</a:t>
            </a:r>
          </a:p>
        </p:txBody>
      </p:sp>
      <p:graphicFrame>
        <p:nvGraphicFramePr>
          <p:cNvPr id="20" name="Table 19"/>
          <p:cNvGraphicFramePr>
            <a:graphicFrameLocks noGrp="1"/>
          </p:cNvGraphicFramePr>
          <p:nvPr/>
        </p:nvGraphicFramePr>
        <p:xfrm>
          <a:off x="548640" y="4617720"/>
          <a:ext cx="10607040" cy="1423416"/>
        </p:xfrm>
        <a:graphic>
          <a:graphicData uri="http://schemas.openxmlformats.org/drawingml/2006/table">
            <a:tbl>
              <a:tblPr firstRow="1" bandRow="1">
                <a:tableStyleId>{5C22544A-7EE6-4342-B048-85BDC9FD1C3A}</a:tableStyleId>
              </a:tblPr>
              <a:tblGrid>
                <a:gridCol w="530352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283464">
                <a:tc>
                  <a:txBody>
                    <a:bodyPr/>
                    <a:lstStyle/>
                    <a:p>
                      <a:r>
                        <a:rPr sz="1300" b="1">
                          <a:solidFill>
                            <a:srgbClr val="FFFFFF"/>
                          </a:solidFill>
                          <a:latin typeface="Arial"/>
                        </a:rPr>
                        <a:t>Traditional maintenance</a:t>
                      </a:r>
                    </a:p>
                  </a:txBody>
                  <a:tcPr anchor="ctr">
                    <a:solidFill>
                      <a:srgbClr val="2F78C4"/>
                    </a:solidFill>
                  </a:tcPr>
                </a:tc>
                <a:tc>
                  <a:txBody>
                    <a:bodyPr/>
                    <a:lstStyle/>
                    <a:p>
                      <a:r>
                        <a:rPr sz="1300" b="1">
                          <a:solidFill>
                            <a:srgbClr val="FFFFFF"/>
                          </a:solidFill>
                          <a:latin typeface="Arial"/>
                        </a:rPr>
                        <a:t>AI predictive maintenance</a:t>
                      </a:r>
                    </a:p>
                  </a:txBody>
                  <a:tcPr anchor="ctr">
                    <a:solidFill>
                      <a:srgbClr val="2F78C4"/>
                    </a:solidFill>
                  </a:tcPr>
                </a:tc>
                <a:extLst>
                  <a:ext uri="{0D108BD9-81ED-4DB2-BD59-A6C34878D82A}">
                    <a16:rowId xmlns:a16="http://schemas.microsoft.com/office/drawing/2014/main" val="10000"/>
                  </a:ext>
                </a:extLst>
              </a:tr>
              <a:tr h="283464">
                <a:tc>
                  <a:txBody>
                    <a:bodyPr/>
                    <a:lstStyle/>
                    <a:p>
                      <a:r>
                        <a:rPr sz="1250">
                          <a:solidFill>
                            <a:srgbClr val="FFFFFF"/>
                          </a:solidFill>
                          <a:latin typeface="Arial"/>
                        </a:rPr>
                        <a:t>Reactive repairs</a:t>
                      </a:r>
                    </a:p>
                  </a:txBody>
                  <a:tcPr anchor="ctr">
                    <a:solidFill>
                      <a:srgbClr val="0A0A5C"/>
                    </a:solidFill>
                  </a:tcPr>
                </a:tc>
                <a:tc>
                  <a:txBody>
                    <a:bodyPr/>
                    <a:lstStyle/>
                    <a:p>
                      <a:r>
                        <a:rPr sz="1250">
                          <a:solidFill>
                            <a:srgbClr val="FFFFFF"/>
                          </a:solidFill>
                          <a:latin typeface="Arial"/>
                        </a:rPr>
                        <a:t>Predictive repairs</a:t>
                      </a:r>
                    </a:p>
                  </a:txBody>
                  <a:tcPr anchor="ctr">
                    <a:solidFill>
                      <a:srgbClr val="0A0A5C"/>
                    </a:solidFill>
                  </a:tcPr>
                </a:tc>
                <a:extLst>
                  <a:ext uri="{0D108BD9-81ED-4DB2-BD59-A6C34878D82A}">
                    <a16:rowId xmlns:a16="http://schemas.microsoft.com/office/drawing/2014/main" val="10001"/>
                  </a:ext>
                </a:extLst>
              </a:tr>
              <a:tr h="283464">
                <a:tc>
                  <a:txBody>
                    <a:bodyPr/>
                    <a:lstStyle/>
                    <a:p>
                      <a:r>
                        <a:rPr sz="1250">
                          <a:solidFill>
                            <a:srgbClr val="FFFFFF"/>
                          </a:solidFill>
                          <a:latin typeface="Arial"/>
                        </a:rPr>
                        <a:t>Higher downtime</a:t>
                      </a:r>
                    </a:p>
                  </a:txBody>
                  <a:tcPr anchor="ctr">
                    <a:solidFill>
                      <a:srgbClr val="000048"/>
                    </a:solidFill>
                  </a:tcPr>
                </a:tc>
                <a:tc>
                  <a:txBody>
                    <a:bodyPr/>
                    <a:lstStyle/>
                    <a:p>
                      <a:r>
                        <a:rPr sz="1250">
                          <a:solidFill>
                            <a:srgbClr val="FFFFFF"/>
                          </a:solidFill>
                          <a:latin typeface="Arial"/>
                        </a:rPr>
                        <a:t>Lower downtime</a:t>
                      </a:r>
                    </a:p>
                  </a:txBody>
                  <a:tcPr anchor="ctr">
                    <a:solidFill>
                      <a:srgbClr val="000048"/>
                    </a:solidFill>
                  </a:tcPr>
                </a:tc>
                <a:extLst>
                  <a:ext uri="{0D108BD9-81ED-4DB2-BD59-A6C34878D82A}">
                    <a16:rowId xmlns:a16="http://schemas.microsoft.com/office/drawing/2014/main" val="10002"/>
                  </a:ext>
                </a:extLst>
              </a:tr>
              <a:tr h="283464">
                <a:tc>
                  <a:txBody>
                    <a:bodyPr/>
                    <a:lstStyle/>
                    <a:p>
                      <a:r>
                        <a:rPr sz="1250">
                          <a:solidFill>
                            <a:srgbClr val="FFFFFF"/>
                          </a:solidFill>
                          <a:latin typeface="Arial"/>
                        </a:rPr>
                        <a:t>Manual inspections</a:t>
                      </a:r>
                    </a:p>
                  </a:txBody>
                  <a:tcPr anchor="ctr">
                    <a:solidFill>
                      <a:srgbClr val="0A0A5C"/>
                    </a:solidFill>
                  </a:tcPr>
                </a:tc>
                <a:tc>
                  <a:txBody>
                    <a:bodyPr/>
                    <a:lstStyle/>
                    <a:p>
                      <a:r>
                        <a:rPr sz="1250">
                          <a:solidFill>
                            <a:srgbClr val="FFFFFF"/>
                          </a:solidFill>
                          <a:latin typeface="Arial"/>
                        </a:rPr>
                        <a:t>AI monitoring</a:t>
                      </a:r>
                    </a:p>
                  </a:txBody>
                  <a:tcPr anchor="ctr">
                    <a:solidFill>
                      <a:srgbClr val="0A0A5C"/>
                    </a:solidFill>
                  </a:tcPr>
                </a:tc>
                <a:extLst>
                  <a:ext uri="{0D108BD9-81ED-4DB2-BD59-A6C34878D82A}">
                    <a16:rowId xmlns:a16="http://schemas.microsoft.com/office/drawing/2014/main" val="10003"/>
                  </a:ext>
                </a:extLst>
              </a:tr>
              <a:tr h="283464">
                <a:tc>
                  <a:txBody>
                    <a:bodyPr/>
                    <a:lstStyle/>
                    <a:p>
                      <a:r>
                        <a:rPr sz="1250">
                          <a:solidFill>
                            <a:srgbClr val="FFFFFF"/>
                          </a:solidFill>
                          <a:latin typeface="Arial"/>
                        </a:rPr>
                        <a:t>Higher costs</a:t>
                      </a:r>
                    </a:p>
                  </a:txBody>
                  <a:tcPr anchor="ctr">
                    <a:solidFill>
                      <a:srgbClr val="000048"/>
                    </a:solidFill>
                  </a:tcPr>
                </a:tc>
                <a:tc>
                  <a:txBody>
                    <a:bodyPr/>
                    <a:lstStyle/>
                    <a:p>
                      <a:r>
                        <a:rPr sz="1250">
                          <a:solidFill>
                            <a:srgbClr val="FFFFFF"/>
                          </a:solidFill>
                          <a:latin typeface="Arial"/>
                        </a:rPr>
                        <a:t>Lower costs</a:t>
                      </a:r>
                    </a:p>
                  </a:txBody>
                  <a:tcPr anchor="ctr">
                    <a:solidFill>
                      <a:srgbClr val="00004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760"/>
            <a:ext cx="11274552" cy="685800"/>
          </a:xfrm>
        </p:spPr>
        <p:txBody>
          <a:bodyPr/>
          <a:lstStyle/>
          <a:p>
            <a:r>
              <a:rPr sz="2800" b="1">
                <a:solidFill>
                  <a:srgbClr val="FFFFFF"/>
                </a:solidFill>
                <a:latin typeface="Arial"/>
              </a:rPr>
              <a:t>Design and prototype using AI</a:t>
            </a:r>
          </a:p>
        </p:txBody>
      </p:sp>
      <p:sp>
        <p:nvSpPr>
          <p:cNvPr id="3" name="Oval 2"/>
          <p:cNvSpPr/>
          <p:nvPr/>
        </p:nvSpPr>
        <p:spPr>
          <a:xfrm>
            <a:off x="548640" y="1417320"/>
            <a:ext cx="457200" cy="457200"/>
          </a:xfrm>
          <a:prstGeom prst="ellipse">
            <a:avLst/>
          </a:prstGeom>
          <a:solidFill>
            <a:srgbClr val="058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compass_white.png"/>
          <p:cNvPicPr>
            <a:picLocks noChangeAspect="1"/>
          </p:cNvPicPr>
          <p:nvPr/>
        </p:nvPicPr>
        <p:blipFill>
          <a:blip r:embed="rId2"/>
          <a:stretch>
            <a:fillRect/>
          </a:stretch>
        </p:blipFill>
        <p:spPr>
          <a:xfrm>
            <a:off x="630936" y="1499616"/>
            <a:ext cx="292608" cy="292608"/>
          </a:xfrm>
          <a:prstGeom prst="rect">
            <a:avLst/>
          </a:prstGeom>
        </p:spPr>
      </p:pic>
      <p:sp>
        <p:nvSpPr>
          <p:cNvPr id="5" name="TextBox 4"/>
          <p:cNvSpPr txBox="1"/>
          <p:nvPr/>
        </p:nvSpPr>
        <p:spPr>
          <a:xfrm>
            <a:off x="1143000" y="1417320"/>
            <a:ext cx="4480559" cy="457200"/>
          </a:xfrm>
          <a:prstGeom prst="rect">
            <a:avLst/>
          </a:prstGeom>
          <a:noFill/>
        </p:spPr>
        <p:txBody>
          <a:bodyPr wrap="square" lIns="0" tIns="0" rIns="0" bIns="0" anchor="ctr">
            <a:spAutoFit/>
          </a:bodyPr>
          <a:lstStyle/>
          <a:p>
            <a:pPr algn="l">
              <a:buNone/>
            </a:pPr>
            <a:r>
              <a:rPr sz="1800" b="1" i="0">
                <a:solidFill>
                  <a:srgbClr val="FFFFFF"/>
                </a:solidFill>
                <a:latin typeface="Arial"/>
              </a:rPr>
              <a:t>AI-assisted product design</a:t>
            </a:r>
          </a:p>
        </p:txBody>
      </p:sp>
      <p:sp>
        <p:nvSpPr>
          <p:cNvPr id="6" name="TextBox 5"/>
          <p:cNvSpPr txBox="1"/>
          <p:nvPr/>
        </p:nvSpPr>
        <p:spPr>
          <a:xfrm>
            <a:off x="594360" y="2057400"/>
            <a:ext cx="4983480" cy="1645920"/>
          </a:xfrm>
          <a:prstGeom prst="rect">
            <a:avLst/>
          </a:prstGeom>
          <a:noFill/>
        </p:spPr>
        <p:txBody>
          <a:bodyPr wrap="square" lIns="0" tIns="0" rIns="0" bIns="0" anchor="t">
            <a:spAutoFit/>
          </a:bodyPr>
          <a:lstStyle/>
          <a:p>
            <a:pPr algn="l">
              <a:spcAft>
                <a:spcPts val="800"/>
              </a:spcAft>
              <a:buFont typeface="Arial"/>
              <a:buChar char="•"/>
            </a:pPr>
            <a:r>
              <a:rPr sz="1350" b="0" i="0">
                <a:solidFill>
                  <a:srgbClr val="FFFFFF"/>
                </a:solidFill>
                <a:latin typeface="Arial"/>
              </a:rPr>
              <a:t>Generates multiple design concepts</a:t>
            </a:r>
          </a:p>
          <a:p>
            <a:pPr algn="l">
              <a:spcAft>
                <a:spcPts val="800"/>
              </a:spcAft>
              <a:buFont typeface="Arial"/>
              <a:buChar char="•"/>
            </a:pPr>
            <a:r>
              <a:rPr sz="1350" b="0" i="0">
                <a:solidFill>
                  <a:srgbClr val="FFFFFF"/>
                </a:solidFill>
                <a:latin typeface="Arial"/>
              </a:rPr>
              <a:t>Optimizes material usage</a:t>
            </a:r>
          </a:p>
          <a:p>
            <a:pPr algn="l">
              <a:spcAft>
                <a:spcPts val="800"/>
              </a:spcAft>
              <a:buFont typeface="Arial"/>
              <a:buChar char="•"/>
            </a:pPr>
            <a:r>
              <a:rPr sz="1350" b="0" i="0">
                <a:solidFill>
                  <a:srgbClr val="FFFFFF"/>
                </a:solidFill>
                <a:latin typeface="Arial"/>
              </a:rPr>
              <a:t>Accelerates product development</a:t>
            </a:r>
          </a:p>
          <a:p>
            <a:pPr algn="l">
              <a:spcAft>
                <a:spcPts val="800"/>
              </a:spcAft>
              <a:buFont typeface="Arial"/>
              <a:buChar char="•"/>
            </a:pPr>
            <a:r>
              <a:rPr sz="1350" b="0" i="0">
                <a:solidFill>
                  <a:srgbClr val="FFFFFF"/>
                </a:solidFill>
                <a:latin typeface="Arial"/>
              </a:rPr>
              <a:t>Encourages innovation</a:t>
            </a:r>
          </a:p>
        </p:txBody>
      </p:sp>
      <p:sp>
        <p:nvSpPr>
          <p:cNvPr id="7" name="Oval 6"/>
          <p:cNvSpPr/>
          <p:nvPr/>
        </p:nvSpPr>
        <p:spPr>
          <a:xfrm>
            <a:off x="5989320" y="1417320"/>
            <a:ext cx="457200" cy="457200"/>
          </a:xfrm>
          <a:prstGeom prst="ellipse">
            <a:avLst/>
          </a:prstGeom>
          <a:solidFill>
            <a:srgbClr val="0581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cube_white.png"/>
          <p:cNvPicPr>
            <a:picLocks noChangeAspect="1"/>
          </p:cNvPicPr>
          <p:nvPr/>
        </p:nvPicPr>
        <p:blipFill>
          <a:blip r:embed="rId3"/>
          <a:stretch>
            <a:fillRect/>
          </a:stretch>
        </p:blipFill>
        <p:spPr>
          <a:xfrm>
            <a:off x="6071616" y="1499616"/>
            <a:ext cx="292608" cy="292608"/>
          </a:xfrm>
          <a:prstGeom prst="rect">
            <a:avLst/>
          </a:prstGeom>
        </p:spPr>
      </p:pic>
      <p:sp>
        <p:nvSpPr>
          <p:cNvPr id="9" name="TextBox 8"/>
          <p:cNvSpPr txBox="1"/>
          <p:nvPr/>
        </p:nvSpPr>
        <p:spPr>
          <a:xfrm>
            <a:off x="6583680" y="1417320"/>
            <a:ext cx="4480559" cy="457200"/>
          </a:xfrm>
          <a:prstGeom prst="rect">
            <a:avLst/>
          </a:prstGeom>
          <a:noFill/>
        </p:spPr>
        <p:txBody>
          <a:bodyPr wrap="square" lIns="0" tIns="0" rIns="0" bIns="0" anchor="ctr">
            <a:spAutoFit/>
          </a:bodyPr>
          <a:lstStyle/>
          <a:p>
            <a:pPr algn="l">
              <a:buNone/>
            </a:pPr>
            <a:r>
              <a:rPr sz="1800" b="1" i="0">
                <a:solidFill>
                  <a:srgbClr val="FFFFFF"/>
                </a:solidFill>
                <a:latin typeface="Arial"/>
              </a:rPr>
              <a:t>AI-based prototyping</a:t>
            </a:r>
          </a:p>
        </p:txBody>
      </p:sp>
      <p:sp>
        <p:nvSpPr>
          <p:cNvPr id="10" name="TextBox 9"/>
          <p:cNvSpPr txBox="1"/>
          <p:nvPr/>
        </p:nvSpPr>
        <p:spPr>
          <a:xfrm>
            <a:off x="6035040" y="2057400"/>
            <a:ext cx="4983480" cy="1645920"/>
          </a:xfrm>
          <a:prstGeom prst="rect">
            <a:avLst/>
          </a:prstGeom>
          <a:noFill/>
        </p:spPr>
        <p:txBody>
          <a:bodyPr wrap="square" lIns="0" tIns="0" rIns="0" bIns="0" anchor="t">
            <a:spAutoFit/>
          </a:bodyPr>
          <a:lstStyle/>
          <a:p>
            <a:pPr algn="l">
              <a:spcAft>
                <a:spcPts val="800"/>
              </a:spcAft>
              <a:buFont typeface="Arial"/>
              <a:buChar char="•"/>
            </a:pPr>
            <a:r>
              <a:rPr sz="1350" b="0" i="0">
                <a:solidFill>
                  <a:srgbClr val="FFFFFF"/>
                </a:solidFill>
                <a:latin typeface="Arial"/>
              </a:rPr>
              <a:t>Digital twins</a:t>
            </a:r>
          </a:p>
          <a:p>
            <a:pPr algn="l">
              <a:spcAft>
                <a:spcPts val="800"/>
              </a:spcAft>
              <a:buFont typeface="Arial"/>
              <a:buChar char="•"/>
            </a:pPr>
            <a:r>
              <a:rPr sz="1350" b="0" i="0">
                <a:solidFill>
                  <a:srgbClr val="FFFFFF"/>
                </a:solidFill>
                <a:latin typeface="Arial"/>
              </a:rPr>
              <a:t>Virtual simulations</a:t>
            </a:r>
          </a:p>
          <a:p>
            <a:pPr algn="l">
              <a:spcAft>
                <a:spcPts val="800"/>
              </a:spcAft>
              <a:buFont typeface="Arial"/>
              <a:buChar char="•"/>
            </a:pPr>
            <a:r>
              <a:rPr sz="1350" b="0" i="0">
                <a:solidFill>
                  <a:srgbClr val="FFFFFF"/>
                </a:solidFill>
                <a:latin typeface="Arial"/>
              </a:rPr>
              <a:t>Rapid prototyping</a:t>
            </a:r>
          </a:p>
          <a:p>
            <a:pPr algn="l">
              <a:spcAft>
                <a:spcPts val="800"/>
              </a:spcAft>
              <a:buFont typeface="Arial"/>
              <a:buChar char="•"/>
            </a:pPr>
            <a:r>
              <a:rPr sz="1350" b="0" i="0">
                <a:solidFill>
                  <a:srgbClr val="FFFFFF"/>
                </a:solidFill>
                <a:latin typeface="Arial"/>
              </a:rPr>
              <a:t>Faster testing</a:t>
            </a:r>
          </a:p>
        </p:txBody>
      </p:sp>
      <p:cxnSp>
        <p:nvCxnSpPr>
          <p:cNvPr id="11" name="Connector 10"/>
          <p:cNvCxnSpPr/>
          <p:nvPr/>
        </p:nvCxnSpPr>
        <p:spPr>
          <a:xfrm>
            <a:off x="5760720" y="1417320"/>
            <a:ext cx="0" cy="2148840"/>
          </a:xfrm>
          <a:prstGeom prst="line">
            <a:avLst/>
          </a:prstGeom>
          <a:ln w="12700">
            <a:solidFill>
              <a:srgbClr val="3A3A5C"/>
            </a:solidFill>
          </a:ln>
          <a:effectLst/>
        </p:spPr>
        <p:style>
          <a:lnRef idx="2">
            <a:schemeClr val="accent1"/>
          </a:lnRef>
          <a:fillRef idx="0">
            <a:schemeClr val="accent1"/>
          </a:fillRef>
          <a:effectRef idx="1">
            <a:schemeClr val="accent1"/>
          </a:effectRef>
          <a:fontRef idx="minor">
            <a:schemeClr val="tx1"/>
          </a:fontRef>
        </p:style>
      </p:cxnSp>
      <p:pic>
        <p:nvPicPr>
          <p:cNvPr id="12" name="Picture 11" descr="ruler_lightblue.png"/>
          <p:cNvPicPr>
            <a:picLocks noChangeAspect="1"/>
          </p:cNvPicPr>
          <p:nvPr/>
        </p:nvPicPr>
        <p:blipFill>
          <a:blip r:embed="rId4"/>
          <a:stretch>
            <a:fillRect/>
          </a:stretch>
        </p:blipFill>
        <p:spPr>
          <a:xfrm>
            <a:off x="640080" y="3657600"/>
            <a:ext cx="457200" cy="457200"/>
          </a:xfrm>
          <a:prstGeom prst="rect">
            <a:avLst/>
          </a:prstGeom>
        </p:spPr>
      </p:pic>
      <p:sp>
        <p:nvSpPr>
          <p:cNvPr id="13" name="TextBox 12"/>
          <p:cNvSpPr txBox="1"/>
          <p:nvPr/>
        </p:nvSpPr>
        <p:spPr>
          <a:xfrm>
            <a:off x="1207007" y="3657600"/>
            <a:ext cx="2103120" cy="457200"/>
          </a:xfrm>
          <a:prstGeom prst="rect">
            <a:avLst/>
          </a:prstGeom>
          <a:noFill/>
        </p:spPr>
        <p:txBody>
          <a:bodyPr wrap="square" lIns="0" tIns="0" rIns="0" bIns="0" anchor="ctr">
            <a:spAutoFit/>
          </a:bodyPr>
          <a:lstStyle/>
          <a:p>
            <a:pPr algn="l">
              <a:buNone/>
            </a:pPr>
            <a:r>
              <a:rPr sz="1050" b="0" i="0">
                <a:solidFill>
                  <a:srgbClr val="D0D0CE"/>
                </a:solidFill>
                <a:latin typeface="Arial"/>
              </a:rPr>
              <a:t>CAD illustration</a:t>
            </a:r>
          </a:p>
        </p:txBody>
      </p:sp>
      <p:pic>
        <p:nvPicPr>
          <p:cNvPr id="14" name="Picture 13" descr="sync_lightblue.png"/>
          <p:cNvPicPr>
            <a:picLocks noChangeAspect="1"/>
          </p:cNvPicPr>
          <p:nvPr/>
        </p:nvPicPr>
        <p:blipFill>
          <a:blip r:embed="rId5"/>
          <a:stretch>
            <a:fillRect/>
          </a:stretch>
        </p:blipFill>
        <p:spPr>
          <a:xfrm>
            <a:off x="6080759" y="3657600"/>
            <a:ext cx="457200" cy="457200"/>
          </a:xfrm>
          <a:prstGeom prst="rect">
            <a:avLst/>
          </a:prstGeom>
        </p:spPr>
      </p:pic>
      <p:sp>
        <p:nvSpPr>
          <p:cNvPr id="15" name="TextBox 14"/>
          <p:cNvSpPr txBox="1"/>
          <p:nvPr/>
        </p:nvSpPr>
        <p:spPr>
          <a:xfrm>
            <a:off x="6647688" y="3657600"/>
            <a:ext cx="2377440" cy="457200"/>
          </a:xfrm>
          <a:prstGeom prst="rect">
            <a:avLst/>
          </a:prstGeom>
          <a:noFill/>
        </p:spPr>
        <p:txBody>
          <a:bodyPr wrap="square" lIns="0" tIns="0" rIns="0" bIns="0" anchor="ctr">
            <a:spAutoFit/>
          </a:bodyPr>
          <a:lstStyle/>
          <a:p>
            <a:pPr algn="l">
              <a:buNone/>
            </a:pPr>
            <a:r>
              <a:rPr sz="1050" b="0" i="0">
                <a:solidFill>
                  <a:srgbClr val="D0D0CE"/>
                </a:solidFill>
                <a:latin typeface="Arial"/>
              </a:rPr>
              <a:t>Digital twin image</a:t>
            </a:r>
          </a:p>
        </p:txBody>
      </p:sp>
      <p:sp>
        <p:nvSpPr>
          <p:cNvPr id="16" name="Rounded Rectangle 15"/>
          <p:cNvSpPr/>
          <p:nvPr/>
        </p:nvSpPr>
        <p:spPr>
          <a:xfrm>
            <a:off x="548640" y="4526280"/>
            <a:ext cx="1743395" cy="1371600"/>
          </a:xfrm>
          <a:prstGeom prst="roundRect">
            <a:avLst>
              <a:gd name="adj" fmla="val 8000"/>
            </a:avLst>
          </a:prstGeom>
          <a:solidFill>
            <a:srgbClr val="0A0A5C"/>
          </a:solidFill>
          <a:ln w="15875">
            <a:solidFill>
              <a:srgbClr val="2F78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lightbulb_lightblue.png"/>
          <p:cNvPicPr>
            <a:picLocks noChangeAspect="1"/>
          </p:cNvPicPr>
          <p:nvPr/>
        </p:nvPicPr>
        <p:blipFill>
          <a:blip r:embed="rId6"/>
          <a:stretch>
            <a:fillRect/>
          </a:stretch>
        </p:blipFill>
        <p:spPr>
          <a:xfrm>
            <a:off x="1164305" y="4690872"/>
            <a:ext cx="512064" cy="512064"/>
          </a:xfrm>
          <a:prstGeom prst="rect">
            <a:avLst/>
          </a:prstGeom>
        </p:spPr>
      </p:pic>
      <p:sp>
        <p:nvSpPr>
          <p:cNvPr id="18" name="TextBox 17"/>
          <p:cNvSpPr txBox="1"/>
          <p:nvPr/>
        </p:nvSpPr>
        <p:spPr>
          <a:xfrm>
            <a:off x="594360" y="5303520"/>
            <a:ext cx="1651955" cy="502920"/>
          </a:xfrm>
          <a:prstGeom prst="rect">
            <a:avLst/>
          </a:prstGeom>
          <a:noFill/>
        </p:spPr>
        <p:txBody>
          <a:bodyPr wrap="square" lIns="0" tIns="0" rIns="0" bIns="0" anchor="ctr">
            <a:spAutoFit/>
          </a:bodyPr>
          <a:lstStyle/>
          <a:p>
            <a:pPr algn="ctr">
              <a:buNone/>
            </a:pPr>
            <a:r>
              <a:rPr sz="1300" b="1" i="0">
                <a:solidFill>
                  <a:srgbClr val="FFFFFF"/>
                </a:solidFill>
                <a:latin typeface="Arial"/>
              </a:rPr>
              <a:t>Idea</a:t>
            </a:r>
          </a:p>
        </p:txBody>
      </p:sp>
      <p:sp>
        <p:nvSpPr>
          <p:cNvPr id="19" name="Chevron 18"/>
          <p:cNvSpPr/>
          <p:nvPr/>
        </p:nvSpPr>
        <p:spPr>
          <a:xfrm>
            <a:off x="2310323" y="5084064"/>
            <a:ext cx="283464" cy="256032"/>
          </a:xfrm>
          <a:prstGeom prst="chevron">
            <a:avLst/>
          </a:prstGeom>
          <a:solidFill>
            <a:srgbClr val="92B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2612075" y="4526280"/>
            <a:ext cx="1743395" cy="1371600"/>
          </a:xfrm>
          <a:prstGeom prst="roundRect">
            <a:avLst>
              <a:gd name="adj" fmla="val 8000"/>
            </a:avLst>
          </a:prstGeom>
          <a:solidFill>
            <a:srgbClr val="0A0A5C"/>
          </a:solidFill>
          <a:ln w="15875">
            <a:solidFill>
              <a:srgbClr val="2F78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compass_lightblue.png"/>
          <p:cNvPicPr>
            <a:picLocks noChangeAspect="1"/>
          </p:cNvPicPr>
          <p:nvPr/>
        </p:nvPicPr>
        <p:blipFill>
          <a:blip r:embed="rId7"/>
          <a:stretch>
            <a:fillRect/>
          </a:stretch>
        </p:blipFill>
        <p:spPr>
          <a:xfrm>
            <a:off x="3227740" y="4690872"/>
            <a:ext cx="512064" cy="512064"/>
          </a:xfrm>
          <a:prstGeom prst="rect">
            <a:avLst/>
          </a:prstGeom>
        </p:spPr>
      </p:pic>
      <p:sp>
        <p:nvSpPr>
          <p:cNvPr id="22" name="TextBox 21"/>
          <p:cNvSpPr txBox="1"/>
          <p:nvPr/>
        </p:nvSpPr>
        <p:spPr>
          <a:xfrm>
            <a:off x="2657795" y="5303520"/>
            <a:ext cx="1651955" cy="502920"/>
          </a:xfrm>
          <a:prstGeom prst="rect">
            <a:avLst/>
          </a:prstGeom>
          <a:noFill/>
        </p:spPr>
        <p:txBody>
          <a:bodyPr wrap="square" lIns="0" tIns="0" rIns="0" bIns="0" anchor="ctr">
            <a:spAutoFit/>
          </a:bodyPr>
          <a:lstStyle/>
          <a:p>
            <a:pPr algn="ctr">
              <a:buNone/>
            </a:pPr>
            <a:r>
              <a:rPr sz="1300" b="1" i="0">
                <a:solidFill>
                  <a:srgbClr val="FFFFFF"/>
                </a:solidFill>
                <a:latin typeface="Arial"/>
              </a:rPr>
              <a:t>AI design</a:t>
            </a:r>
          </a:p>
        </p:txBody>
      </p:sp>
      <p:sp>
        <p:nvSpPr>
          <p:cNvPr id="23" name="Chevron 22"/>
          <p:cNvSpPr/>
          <p:nvPr/>
        </p:nvSpPr>
        <p:spPr>
          <a:xfrm>
            <a:off x="4373758" y="5084064"/>
            <a:ext cx="283464" cy="256032"/>
          </a:xfrm>
          <a:prstGeom prst="chevron">
            <a:avLst/>
          </a:prstGeom>
          <a:solidFill>
            <a:srgbClr val="92B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675510" y="4526280"/>
            <a:ext cx="1743395" cy="1371600"/>
          </a:xfrm>
          <a:prstGeom prst="roundRect">
            <a:avLst>
              <a:gd name="adj" fmla="val 8000"/>
            </a:avLst>
          </a:prstGeom>
          <a:solidFill>
            <a:srgbClr val="0A0A5C"/>
          </a:solidFill>
          <a:ln w="15875">
            <a:solidFill>
              <a:srgbClr val="2F78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desktop_lightblue.png"/>
          <p:cNvPicPr>
            <a:picLocks noChangeAspect="1"/>
          </p:cNvPicPr>
          <p:nvPr/>
        </p:nvPicPr>
        <p:blipFill>
          <a:blip r:embed="rId8"/>
          <a:stretch>
            <a:fillRect/>
          </a:stretch>
        </p:blipFill>
        <p:spPr>
          <a:xfrm>
            <a:off x="5291175" y="4690872"/>
            <a:ext cx="512064" cy="512064"/>
          </a:xfrm>
          <a:prstGeom prst="rect">
            <a:avLst/>
          </a:prstGeom>
        </p:spPr>
      </p:pic>
      <p:sp>
        <p:nvSpPr>
          <p:cNvPr id="26" name="TextBox 25"/>
          <p:cNvSpPr txBox="1"/>
          <p:nvPr/>
        </p:nvSpPr>
        <p:spPr>
          <a:xfrm>
            <a:off x="4721230" y="5303520"/>
            <a:ext cx="1651955" cy="502920"/>
          </a:xfrm>
          <a:prstGeom prst="rect">
            <a:avLst/>
          </a:prstGeom>
          <a:noFill/>
        </p:spPr>
        <p:txBody>
          <a:bodyPr wrap="square" lIns="0" tIns="0" rIns="0" bIns="0" anchor="ctr">
            <a:spAutoFit/>
          </a:bodyPr>
          <a:lstStyle/>
          <a:p>
            <a:pPr algn="ctr">
              <a:buNone/>
            </a:pPr>
            <a:r>
              <a:rPr sz="1300" b="1" i="0">
                <a:solidFill>
                  <a:srgbClr val="FFFFFF"/>
                </a:solidFill>
                <a:latin typeface="Arial"/>
              </a:rPr>
              <a:t>Simulation</a:t>
            </a:r>
          </a:p>
        </p:txBody>
      </p:sp>
      <p:sp>
        <p:nvSpPr>
          <p:cNvPr id="27" name="Chevron 26"/>
          <p:cNvSpPr/>
          <p:nvPr/>
        </p:nvSpPr>
        <p:spPr>
          <a:xfrm>
            <a:off x="6437193" y="5084064"/>
            <a:ext cx="283464" cy="256032"/>
          </a:xfrm>
          <a:prstGeom prst="chevron">
            <a:avLst/>
          </a:prstGeom>
          <a:solidFill>
            <a:srgbClr val="92B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738945" y="4526280"/>
            <a:ext cx="1743395" cy="1371600"/>
          </a:xfrm>
          <a:prstGeom prst="roundRect">
            <a:avLst>
              <a:gd name="adj" fmla="val 8000"/>
            </a:avLst>
          </a:prstGeom>
          <a:solidFill>
            <a:srgbClr val="0A0A5C"/>
          </a:solidFill>
          <a:ln w="15875">
            <a:solidFill>
              <a:srgbClr val="2F78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cube_lightblue.png"/>
          <p:cNvPicPr>
            <a:picLocks noChangeAspect="1"/>
          </p:cNvPicPr>
          <p:nvPr/>
        </p:nvPicPr>
        <p:blipFill>
          <a:blip r:embed="rId9"/>
          <a:stretch>
            <a:fillRect/>
          </a:stretch>
        </p:blipFill>
        <p:spPr>
          <a:xfrm>
            <a:off x="7354610" y="4690872"/>
            <a:ext cx="512064" cy="512064"/>
          </a:xfrm>
          <a:prstGeom prst="rect">
            <a:avLst/>
          </a:prstGeom>
        </p:spPr>
      </p:pic>
      <p:sp>
        <p:nvSpPr>
          <p:cNvPr id="30" name="TextBox 29"/>
          <p:cNvSpPr txBox="1"/>
          <p:nvPr/>
        </p:nvSpPr>
        <p:spPr>
          <a:xfrm>
            <a:off x="6784665" y="5303520"/>
            <a:ext cx="1651955" cy="502920"/>
          </a:xfrm>
          <a:prstGeom prst="rect">
            <a:avLst/>
          </a:prstGeom>
          <a:noFill/>
        </p:spPr>
        <p:txBody>
          <a:bodyPr wrap="square" lIns="0" tIns="0" rIns="0" bIns="0" anchor="ctr">
            <a:spAutoFit/>
          </a:bodyPr>
          <a:lstStyle/>
          <a:p>
            <a:pPr algn="ctr">
              <a:buNone/>
            </a:pPr>
            <a:r>
              <a:rPr sz="1300" b="1" i="0">
                <a:solidFill>
                  <a:srgbClr val="FFFFFF"/>
                </a:solidFill>
                <a:latin typeface="Arial"/>
              </a:rPr>
              <a:t>Prototype</a:t>
            </a:r>
          </a:p>
        </p:txBody>
      </p:sp>
      <p:sp>
        <p:nvSpPr>
          <p:cNvPr id="31" name="Chevron 30"/>
          <p:cNvSpPr/>
          <p:nvPr/>
        </p:nvSpPr>
        <p:spPr>
          <a:xfrm>
            <a:off x="8500628" y="5084064"/>
            <a:ext cx="283464" cy="256032"/>
          </a:xfrm>
          <a:prstGeom prst="chevron">
            <a:avLst/>
          </a:prstGeom>
          <a:solidFill>
            <a:srgbClr val="92B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8802380" y="4526280"/>
            <a:ext cx="1743395" cy="1371600"/>
          </a:xfrm>
          <a:prstGeom prst="roundRect">
            <a:avLst>
              <a:gd name="adj" fmla="val 8000"/>
            </a:avLst>
          </a:prstGeom>
          <a:solidFill>
            <a:srgbClr val="0A0A5C"/>
          </a:solidFill>
          <a:ln w="15875">
            <a:solidFill>
              <a:srgbClr val="2F78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industry_lightblue.png"/>
          <p:cNvPicPr>
            <a:picLocks noChangeAspect="1"/>
          </p:cNvPicPr>
          <p:nvPr/>
        </p:nvPicPr>
        <p:blipFill>
          <a:blip r:embed="rId10"/>
          <a:stretch>
            <a:fillRect/>
          </a:stretch>
        </p:blipFill>
        <p:spPr>
          <a:xfrm>
            <a:off x="9418045" y="4690872"/>
            <a:ext cx="512064" cy="512064"/>
          </a:xfrm>
          <a:prstGeom prst="rect">
            <a:avLst/>
          </a:prstGeom>
        </p:spPr>
      </p:pic>
      <p:sp>
        <p:nvSpPr>
          <p:cNvPr id="34" name="TextBox 33"/>
          <p:cNvSpPr txBox="1"/>
          <p:nvPr/>
        </p:nvSpPr>
        <p:spPr>
          <a:xfrm>
            <a:off x="8848100" y="5303520"/>
            <a:ext cx="1651955" cy="502920"/>
          </a:xfrm>
          <a:prstGeom prst="rect">
            <a:avLst/>
          </a:prstGeom>
          <a:noFill/>
        </p:spPr>
        <p:txBody>
          <a:bodyPr wrap="square" lIns="0" tIns="0" rIns="0" bIns="0" anchor="ctr">
            <a:spAutoFit/>
          </a:bodyPr>
          <a:lstStyle/>
          <a:p>
            <a:pPr algn="ctr">
              <a:buNone/>
            </a:pPr>
            <a:r>
              <a:rPr sz="1300" b="1" i="0">
                <a:solidFill>
                  <a:srgbClr val="FFFFFF"/>
                </a:solidFill>
                <a:latin typeface="Arial"/>
              </a:rPr>
              <a:t>Manufacturing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760"/>
            <a:ext cx="11274552" cy="685800"/>
          </a:xfrm>
        </p:spPr>
        <p:txBody>
          <a:bodyPr/>
          <a:lstStyle/>
          <a:p>
            <a:r>
              <a:rPr sz="2800" b="1">
                <a:solidFill>
                  <a:srgbClr val="FFFFFF"/>
                </a:solidFill>
                <a:latin typeface="Arial"/>
              </a:rPr>
              <a:t>Benefits and future scope</a:t>
            </a:r>
          </a:p>
        </p:txBody>
      </p:sp>
      <p:sp>
        <p:nvSpPr>
          <p:cNvPr id="3" name="TextBox 2"/>
          <p:cNvSpPr txBox="1"/>
          <p:nvPr/>
        </p:nvSpPr>
        <p:spPr>
          <a:xfrm>
            <a:off x="548640" y="1371600"/>
            <a:ext cx="5120640" cy="365760"/>
          </a:xfrm>
          <a:prstGeom prst="rect">
            <a:avLst/>
          </a:prstGeom>
          <a:noFill/>
        </p:spPr>
        <p:txBody>
          <a:bodyPr wrap="square" lIns="0" tIns="0" rIns="0" bIns="0" anchor="t">
            <a:spAutoFit/>
          </a:bodyPr>
          <a:lstStyle/>
          <a:p>
            <a:pPr algn="l">
              <a:buNone/>
            </a:pPr>
            <a:r>
              <a:rPr sz="1600" b="1" i="0">
                <a:solidFill>
                  <a:srgbClr val="92BBE6"/>
                </a:solidFill>
                <a:latin typeface="Arial"/>
              </a:rPr>
              <a:t>Benefits</a:t>
            </a:r>
          </a:p>
        </p:txBody>
      </p:sp>
      <p:pic>
        <p:nvPicPr>
          <p:cNvPr id="4" name="Picture 3" descr="bolt_lightblue.png"/>
          <p:cNvPicPr>
            <a:picLocks noChangeAspect="1"/>
          </p:cNvPicPr>
          <p:nvPr/>
        </p:nvPicPr>
        <p:blipFill>
          <a:blip r:embed="rId2"/>
          <a:stretch>
            <a:fillRect/>
          </a:stretch>
        </p:blipFill>
        <p:spPr>
          <a:xfrm>
            <a:off x="548640" y="1783080"/>
            <a:ext cx="347472" cy="347472"/>
          </a:xfrm>
          <a:prstGeom prst="rect">
            <a:avLst/>
          </a:prstGeom>
        </p:spPr>
      </p:pic>
      <p:sp>
        <p:nvSpPr>
          <p:cNvPr id="5" name="TextBox 4"/>
          <p:cNvSpPr txBox="1"/>
          <p:nvPr/>
        </p:nvSpPr>
        <p:spPr>
          <a:xfrm>
            <a:off x="1033271" y="1783080"/>
            <a:ext cx="4636007" cy="347472"/>
          </a:xfrm>
          <a:prstGeom prst="rect">
            <a:avLst/>
          </a:prstGeom>
          <a:noFill/>
        </p:spPr>
        <p:txBody>
          <a:bodyPr wrap="square" lIns="0" tIns="0" rIns="0" bIns="0" anchor="ctr">
            <a:spAutoFit/>
          </a:bodyPr>
          <a:lstStyle/>
          <a:p>
            <a:pPr algn="l">
              <a:buNone/>
            </a:pPr>
            <a:r>
              <a:rPr sz="1250" b="0" i="0">
                <a:solidFill>
                  <a:srgbClr val="FFFFFF"/>
                </a:solidFill>
                <a:latin typeface="Arial"/>
              </a:rPr>
              <a:t>Faster production</a:t>
            </a:r>
          </a:p>
        </p:txBody>
      </p:sp>
      <p:pic>
        <p:nvPicPr>
          <p:cNvPr id="6" name="Picture 5" descr="dollar_lightblue.png"/>
          <p:cNvPicPr>
            <a:picLocks noChangeAspect="1"/>
          </p:cNvPicPr>
          <p:nvPr/>
        </p:nvPicPr>
        <p:blipFill>
          <a:blip r:embed="rId3"/>
          <a:stretch>
            <a:fillRect/>
          </a:stretch>
        </p:blipFill>
        <p:spPr>
          <a:xfrm>
            <a:off x="548640" y="2212848"/>
            <a:ext cx="347472" cy="347472"/>
          </a:xfrm>
          <a:prstGeom prst="rect">
            <a:avLst/>
          </a:prstGeom>
        </p:spPr>
      </p:pic>
      <p:sp>
        <p:nvSpPr>
          <p:cNvPr id="7" name="TextBox 6"/>
          <p:cNvSpPr txBox="1"/>
          <p:nvPr/>
        </p:nvSpPr>
        <p:spPr>
          <a:xfrm>
            <a:off x="1033271" y="2212848"/>
            <a:ext cx="4636007" cy="347472"/>
          </a:xfrm>
          <a:prstGeom prst="rect">
            <a:avLst/>
          </a:prstGeom>
          <a:noFill/>
        </p:spPr>
        <p:txBody>
          <a:bodyPr wrap="square" lIns="0" tIns="0" rIns="0" bIns="0" anchor="ctr">
            <a:spAutoFit/>
          </a:bodyPr>
          <a:lstStyle/>
          <a:p>
            <a:pPr algn="l">
              <a:buNone/>
            </a:pPr>
            <a:r>
              <a:rPr sz="1250" b="0" i="0">
                <a:solidFill>
                  <a:srgbClr val="FFFFFF"/>
                </a:solidFill>
                <a:latin typeface="Arial"/>
              </a:rPr>
              <a:t>Reduced manufacturing costs</a:t>
            </a:r>
          </a:p>
        </p:txBody>
      </p:sp>
      <p:pic>
        <p:nvPicPr>
          <p:cNvPr id="8" name="Picture 7" descr="checkcircle_lightblue.png"/>
          <p:cNvPicPr>
            <a:picLocks noChangeAspect="1"/>
          </p:cNvPicPr>
          <p:nvPr/>
        </p:nvPicPr>
        <p:blipFill>
          <a:blip r:embed="rId4"/>
          <a:stretch>
            <a:fillRect/>
          </a:stretch>
        </p:blipFill>
        <p:spPr>
          <a:xfrm>
            <a:off x="548640" y="2642615"/>
            <a:ext cx="347472" cy="347472"/>
          </a:xfrm>
          <a:prstGeom prst="rect">
            <a:avLst/>
          </a:prstGeom>
        </p:spPr>
      </p:pic>
      <p:sp>
        <p:nvSpPr>
          <p:cNvPr id="9" name="TextBox 8"/>
          <p:cNvSpPr txBox="1"/>
          <p:nvPr/>
        </p:nvSpPr>
        <p:spPr>
          <a:xfrm>
            <a:off x="1033271" y="2642615"/>
            <a:ext cx="4636007" cy="347472"/>
          </a:xfrm>
          <a:prstGeom prst="rect">
            <a:avLst/>
          </a:prstGeom>
          <a:noFill/>
        </p:spPr>
        <p:txBody>
          <a:bodyPr wrap="square" lIns="0" tIns="0" rIns="0" bIns="0" anchor="ctr">
            <a:spAutoFit/>
          </a:bodyPr>
          <a:lstStyle/>
          <a:p>
            <a:pPr algn="l">
              <a:buNone/>
            </a:pPr>
            <a:r>
              <a:rPr sz="1250" b="0" i="0">
                <a:solidFill>
                  <a:srgbClr val="FFFFFF"/>
                </a:solidFill>
                <a:latin typeface="Arial"/>
              </a:rPr>
              <a:t>Improved product quality</a:t>
            </a:r>
          </a:p>
        </p:txBody>
      </p:sp>
      <p:pic>
        <p:nvPicPr>
          <p:cNvPr id="10" name="Picture 9" descr="clock_lightblue.png"/>
          <p:cNvPicPr>
            <a:picLocks noChangeAspect="1"/>
          </p:cNvPicPr>
          <p:nvPr/>
        </p:nvPicPr>
        <p:blipFill>
          <a:blip r:embed="rId5"/>
          <a:stretch>
            <a:fillRect/>
          </a:stretch>
        </p:blipFill>
        <p:spPr>
          <a:xfrm>
            <a:off x="548640" y="3072384"/>
            <a:ext cx="347472" cy="347472"/>
          </a:xfrm>
          <a:prstGeom prst="rect">
            <a:avLst/>
          </a:prstGeom>
        </p:spPr>
      </p:pic>
      <p:sp>
        <p:nvSpPr>
          <p:cNvPr id="11" name="TextBox 10"/>
          <p:cNvSpPr txBox="1"/>
          <p:nvPr/>
        </p:nvSpPr>
        <p:spPr>
          <a:xfrm>
            <a:off x="1033271" y="3072384"/>
            <a:ext cx="4636007" cy="347472"/>
          </a:xfrm>
          <a:prstGeom prst="rect">
            <a:avLst/>
          </a:prstGeom>
          <a:noFill/>
        </p:spPr>
        <p:txBody>
          <a:bodyPr wrap="square" lIns="0" tIns="0" rIns="0" bIns="0" anchor="ctr">
            <a:spAutoFit/>
          </a:bodyPr>
          <a:lstStyle/>
          <a:p>
            <a:pPr algn="l">
              <a:buNone/>
            </a:pPr>
            <a:r>
              <a:rPr sz="1250" b="0" i="0">
                <a:solidFill>
                  <a:srgbClr val="FFFFFF"/>
                </a:solidFill>
                <a:latin typeface="Arial"/>
              </a:rPr>
              <a:t>Reduced downtime</a:t>
            </a:r>
          </a:p>
        </p:txBody>
      </p:sp>
      <p:pic>
        <p:nvPicPr>
          <p:cNvPr id="12" name="Picture 11" descr="chartline_lightblue.png"/>
          <p:cNvPicPr>
            <a:picLocks noChangeAspect="1"/>
          </p:cNvPicPr>
          <p:nvPr/>
        </p:nvPicPr>
        <p:blipFill>
          <a:blip r:embed="rId6"/>
          <a:stretch>
            <a:fillRect/>
          </a:stretch>
        </p:blipFill>
        <p:spPr>
          <a:xfrm>
            <a:off x="548640" y="3502152"/>
            <a:ext cx="347472" cy="347472"/>
          </a:xfrm>
          <a:prstGeom prst="rect">
            <a:avLst/>
          </a:prstGeom>
        </p:spPr>
      </p:pic>
      <p:sp>
        <p:nvSpPr>
          <p:cNvPr id="13" name="TextBox 12"/>
          <p:cNvSpPr txBox="1"/>
          <p:nvPr/>
        </p:nvSpPr>
        <p:spPr>
          <a:xfrm>
            <a:off x="1033271" y="3502152"/>
            <a:ext cx="4636007" cy="347472"/>
          </a:xfrm>
          <a:prstGeom prst="rect">
            <a:avLst/>
          </a:prstGeom>
          <a:noFill/>
        </p:spPr>
        <p:txBody>
          <a:bodyPr wrap="square" lIns="0" tIns="0" rIns="0" bIns="0" anchor="ctr">
            <a:spAutoFit/>
          </a:bodyPr>
          <a:lstStyle/>
          <a:p>
            <a:pPr algn="l">
              <a:buNone/>
            </a:pPr>
            <a:r>
              <a:rPr sz="1250" b="0" i="0">
                <a:solidFill>
                  <a:srgbClr val="FFFFFF"/>
                </a:solidFill>
                <a:latin typeface="Arial"/>
              </a:rPr>
              <a:t>Better efficiency</a:t>
            </a:r>
          </a:p>
        </p:txBody>
      </p:sp>
      <p:pic>
        <p:nvPicPr>
          <p:cNvPr id="14" name="Picture 13" descr="leaf_lightblue.png"/>
          <p:cNvPicPr>
            <a:picLocks noChangeAspect="1"/>
          </p:cNvPicPr>
          <p:nvPr/>
        </p:nvPicPr>
        <p:blipFill>
          <a:blip r:embed="rId7"/>
          <a:stretch>
            <a:fillRect/>
          </a:stretch>
        </p:blipFill>
        <p:spPr>
          <a:xfrm>
            <a:off x="548640" y="3931920"/>
            <a:ext cx="347472" cy="347472"/>
          </a:xfrm>
          <a:prstGeom prst="rect">
            <a:avLst/>
          </a:prstGeom>
        </p:spPr>
      </p:pic>
      <p:sp>
        <p:nvSpPr>
          <p:cNvPr id="15" name="TextBox 14"/>
          <p:cNvSpPr txBox="1"/>
          <p:nvPr/>
        </p:nvSpPr>
        <p:spPr>
          <a:xfrm>
            <a:off x="1033271" y="3931920"/>
            <a:ext cx="4636007" cy="347472"/>
          </a:xfrm>
          <a:prstGeom prst="rect">
            <a:avLst/>
          </a:prstGeom>
          <a:noFill/>
        </p:spPr>
        <p:txBody>
          <a:bodyPr wrap="square" lIns="0" tIns="0" rIns="0" bIns="0" anchor="ctr">
            <a:spAutoFit/>
          </a:bodyPr>
          <a:lstStyle/>
          <a:p>
            <a:pPr algn="l">
              <a:buNone/>
            </a:pPr>
            <a:r>
              <a:rPr sz="1250" b="0" i="0">
                <a:solidFill>
                  <a:srgbClr val="FFFFFF"/>
                </a:solidFill>
                <a:latin typeface="Arial"/>
              </a:rPr>
              <a:t>Sustainable manufacturing</a:t>
            </a:r>
          </a:p>
        </p:txBody>
      </p:sp>
      <p:sp>
        <p:nvSpPr>
          <p:cNvPr id="16" name="TextBox 15"/>
          <p:cNvSpPr txBox="1"/>
          <p:nvPr/>
        </p:nvSpPr>
        <p:spPr>
          <a:xfrm>
            <a:off x="5989320" y="1371600"/>
            <a:ext cx="5120640" cy="365760"/>
          </a:xfrm>
          <a:prstGeom prst="rect">
            <a:avLst/>
          </a:prstGeom>
          <a:noFill/>
        </p:spPr>
        <p:txBody>
          <a:bodyPr wrap="square" lIns="0" tIns="0" rIns="0" bIns="0" anchor="t">
            <a:spAutoFit/>
          </a:bodyPr>
          <a:lstStyle/>
          <a:p>
            <a:pPr algn="l">
              <a:buNone/>
            </a:pPr>
            <a:r>
              <a:rPr sz="1600" b="1" i="0">
                <a:solidFill>
                  <a:srgbClr val="92BBE6"/>
                </a:solidFill>
                <a:latin typeface="Arial"/>
              </a:rPr>
              <a:t>Future scope</a:t>
            </a:r>
          </a:p>
        </p:txBody>
      </p:sp>
      <p:pic>
        <p:nvPicPr>
          <p:cNvPr id="17" name="Picture 16" descr="robot_lightblue.png"/>
          <p:cNvPicPr>
            <a:picLocks noChangeAspect="1"/>
          </p:cNvPicPr>
          <p:nvPr/>
        </p:nvPicPr>
        <p:blipFill>
          <a:blip r:embed="rId8"/>
          <a:stretch>
            <a:fillRect/>
          </a:stretch>
        </p:blipFill>
        <p:spPr>
          <a:xfrm>
            <a:off x="5989320" y="1783080"/>
            <a:ext cx="347472" cy="347472"/>
          </a:xfrm>
          <a:prstGeom prst="rect">
            <a:avLst/>
          </a:prstGeom>
        </p:spPr>
      </p:pic>
      <p:sp>
        <p:nvSpPr>
          <p:cNvPr id="18" name="TextBox 17"/>
          <p:cNvSpPr txBox="1"/>
          <p:nvPr/>
        </p:nvSpPr>
        <p:spPr>
          <a:xfrm>
            <a:off x="6473952" y="1783080"/>
            <a:ext cx="4636007" cy="347472"/>
          </a:xfrm>
          <a:prstGeom prst="rect">
            <a:avLst/>
          </a:prstGeom>
          <a:noFill/>
        </p:spPr>
        <p:txBody>
          <a:bodyPr wrap="square" lIns="0" tIns="0" rIns="0" bIns="0" anchor="ctr">
            <a:spAutoFit/>
          </a:bodyPr>
          <a:lstStyle/>
          <a:p>
            <a:pPr algn="l">
              <a:buNone/>
            </a:pPr>
            <a:r>
              <a:rPr sz="1250" b="0" i="0">
                <a:solidFill>
                  <a:srgbClr val="FFFFFF"/>
                </a:solidFill>
                <a:latin typeface="Arial"/>
              </a:rPr>
              <a:t>Autonomous factories</a:t>
            </a:r>
          </a:p>
        </p:txBody>
      </p:sp>
      <p:pic>
        <p:nvPicPr>
          <p:cNvPr id="19" name="Picture 18" descr="robot_lightblue.png"/>
          <p:cNvPicPr>
            <a:picLocks noChangeAspect="1"/>
          </p:cNvPicPr>
          <p:nvPr/>
        </p:nvPicPr>
        <p:blipFill>
          <a:blip r:embed="rId8"/>
          <a:stretch>
            <a:fillRect/>
          </a:stretch>
        </p:blipFill>
        <p:spPr>
          <a:xfrm>
            <a:off x="5989320" y="2212848"/>
            <a:ext cx="347472" cy="347472"/>
          </a:xfrm>
          <a:prstGeom prst="rect">
            <a:avLst/>
          </a:prstGeom>
        </p:spPr>
      </p:pic>
      <p:sp>
        <p:nvSpPr>
          <p:cNvPr id="20" name="TextBox 19"/>
          <p:cNvSpPr txBox="1"/>
          <p:nvPr/>
        </p:nvSpPr>
        <p:spPr>
          <a:xfrm>
            <a:off x="6473952" y="2212848"/>
            <a:ext cx="4636007" cy="347472"/>
          </a:xfrm>
          <a:prstGeom prst="rect">
            <a:avLst/>
          </a:prstGeom>
          <a:noFill/>
        </p:spPr>
        <p:txBody>
          <a:bodyPr wrap="square" lIns="0" tIns="0" rIns="0" bIns="0" anchor="ctr">
            <a:spAutoFit/>
          </a:bodyPr>
          <a:lstStyle/>
          <a:p>
            <a:pPr algn="l">
              <a:buNone/>
            </a:pPr>
            <a:r>
              <a:rPr sz="1250" b="0" i="0">
                <a:solidFill>
                  <a:srgbClr val="FFFFFF"/>
                </a:solidFill>
                <a:latin typeface="Arial"/>
              </a:rPr>
              <a:t>AI-powered robots</a:t>
            </a:r>
          </a:p>
        </p:txBody>
      </p:sp>
      <p:pic>
        <p:nvPicPr>
          <p:cNvPr id="21" name="Picture 20" descr="industry_lightblue.png"/>
          <p:cNvPicPr>
            <a:picLocks noChangeAspect="1"/>
          </p:cNvPicPr>
          <p:nvPr/>
        </p:nvPicPr>
        <p:blipFill>
          <a:blip r:embed="rId9"/>
          <a:stretch>
            <a:fillRect/>
          </a:stretch>
        </p:blipFill>
        <p:spPr>
          <a:xfrm>
            <a:off x="5989320" y="2642615"/>
            <a:ext cx="347472" cy="347472"/>
          </a:xfrm>
          <a:prstGeom prst="rect">
            <a:avLst/>
          </a:prstGeom>
        </p:spPr>
      </p:pic>
      <p:sp>
        <p:nvSpPr>
          <p:cNvPr id="22" name="TextBox 21"/>
          <p:cNvSpPr txBox="1"/>
          <p:nvPr/>
        </p:nvSpPr>
        <p:spPr>
          <a:xfrm>
            <a:off x="6473952" y="2642615"/>
            <a:ext cx="4636007" cy="347472"/>
          </a:xfrm>
          <a:prstGeom prst="rect">
            <a:avLst/>
          </a:prstGeom>
          <a:noFill/>
        </p:spPr>
        <p:txBody>
          <a:bodyPr wrap="square" lIns="0" tIns="0" rIns="0" bIns="0" anchor="ctr">
            <a:spAutoFit/>
          </a:bodyPr>
          <a:lstStyle/>
          <a:p>
            <a:pPr algn="l">
              <a:buNone/>
            </a:pPr>
            <a:r>
              <a:rPr sz="1250" b="0" i="0">
                <a:solidFill>
                  <a:srgbClr val="FFFFFF"/>
                </a:solidFill>
                <a:latin typeface="Arial"/>
              </a:rPr>
              <a:t>Smart manufacturing</a:t>
            </a:r>
          </a:p>
        </p:txBody>
      </p:sp>
      <p:pic>
        <p:nvPicPr>
          <p:cNvPr id="23" name="Picture 22" descr="usercog_lightblue.png"/>
          <p:cNvPicPr>
            <a:picLocks noChangeAspect="1"/>
          </p:cNvPicPr>
          <p:nvPr/>
        </p:nvPicPr>
        <p:blipFill>
          <a:blip r:embed="rId10"/>
          <a:stretch>
            <a:fillRect/>
          </a:stretch>
        </p:blipFill>
        <p:spPr>
          <a:xfrm>
            <a:off x="5989320" y="3072384"/>
            <a:ext cx="347472" cy="347472"/>
          </a:xfrm>
          <a:prstGeom prst="rect">
            <a:avLst/>
          </a:prstGeom>
        </p:spPr>
      </p:pic>
      <p:sp>
        <p:nvSpPr>
          <p:cNvPr id="24" name="TextBox 23"/>
          <p:cNvSpPr txBox="1"/>
          <p:nvPr/>
        </p:nvSpPr>
        <p:spPr>
          <a:xfrm>
            <a:off x="6473952" y="3072384"/>
            <a:ext cx="4636007" cy="347472"/>
          </a:xfrm>
          <a:prstGeom prst="rect">
            <a:avLst/>
          </a:prstGeom>
          <a:noFill/>
        </p:spPr>
        <p:txBody>
          <a:bodyPr wrap="square" lIns="0" tIns="0" rIns="0" bIns="0" anchor="ctr">
            <a:spAutoFit/>
          </a:bodyPr>
          <a:lstStyle/>
          <a:p>
            <a:pPr algn="l">
              <a:buNone/>
            </a:pPr>
            <a:r>
              <a:rPr sz="1250" b="0" i="0">
                <a:solidFill>
                  <a:srgbClr val="FFFFFF"/>
                </a:solidFill>
                <a:latin typeface="Arial"/>
              </a:rPr>
              <a:t>Personalized production</a:t>
            </a:r>
          </a:p>
        </p:txBody>
      </p:sp>
      <p:pic>
        <p:nvPicPr>
          <p:cNvPr id="25" name="Picture 24" descr="network_lightblue.png"/>
          <p:cNvPicPr>
            <a:picLocks noChangeAspect="1"/>
          </p:cNvPicPr>
          <p:nvPr/>
        </p:nvPicPr>
        <p:blipFill>
          <a:blip r:embed="rId11"/>
          <a:stretch>
            <a:fillRect/>
          </a:stretch>
        </p:blipFill>
        <p:spPr>
          <a:xfrm>
            <a:off x="5989320" y="3502152"/>
            <a:ext cx="347472" cy="347472"/>
          </a:xfrm>
          <a:prstGeom prst="rect">
            <a:avLst/>
          </a:prstGeom>
        </p:spPr>
      </p:pic>
      <p:sp>
        <p:nvSpPr>
          <p:cNvPr id="26" name="TextBox 25"/>
          <p:cNvSpPr txBox="1"/>
          <p:nvPr/>
        </p:nvSpPr>
        <p:spPr>
          <a:xfrm>
            <a:off x="6473952" y="3502152"/>
            <a:ext cx="4636007" cy="347472"/>
          </a:xfrm>
          <a:prstGeom prst="rect">
            <a:avLst/>
          </a:prstGeom>
          <a:noFill/>
        </p:spPr>
        <p:txBody>
          <a:bodyPr wrap="square" lIns="0" tIns="0" rIns="0" bIns="0" anchor="ctr">
            <a:spAutoFit/>
          </a:bodyPr>
          <a:lstStyle/>
          <a:p>
            <a:pPr algn="l">
              <a:buNone/>
            </a:pPr>
            <a:r>
              <a:rPr sz="1250" b="0" i="0">
                <a:solidFill>
                  <a:srgbClr val="FFFFFF"/>
                </a:solidFill>
                <a:latin typeface="Arial"/>
              </a:rPr>
              <a:t>Industry 5.0</a:t>
            </a:r>
          </a:p>
        </p:txBody>
      </p:sp>
      <p:cxnSp>
        <p:nvCxnSpPr>
          <p:cNvPr id="27" name="Connector 26"/>
          <p:cNvCxnSpPr/>
          <p:nvPr/>
        </p:nvCxnSpPr>
        <p:spPr>
          <a:xfrm>
            <a:off x="5760720" y="1417320"/>
            <a:ext cx="0" cy="2926080"/>
          </a:xfrm>
          <a:prstGeom prst="line">
            <a:avLst/>
          </a:prstGeom>
          <a:ln w="12700">
            <a:solidFill>
              <a:srgbClr val="3A3A5C"/>
            </a:solidFill>
          </a:ln>
          <a:effectLst/>
        </p:spPr>
        <p:style>
          <a:lnRef idx="2">
            <a:schemeClr val="accent1"/>
          </a:lnRef>
          <a:fillRef idx="0">
            <a:schemeClr val="accent1"/>
          </a:fillRef>
          <a:effectRef idx="1">
            <a:schemeClr val="accent1"/>
          </a:effectRef>
          <a:fontRef idx="minor">
            <a:schemeClr val="tx1"/>
          </a:fontRef>
        </p:style>
      </p:cxnSp>
      <p:graphicFrame>
        <p:nvGraphicFramePr>
          <p:cNvPr id="28" name="Chart 27"/>
          <p:cNvGraphicFramePr>
            <a:graphicFrameLocks noGrp="1"/>
          </p:cNvGraphicFramePr>
          <p:nvPr/>
        </p:nvGraphicFramePr>
        <p:xfrm>
          <a:off x="548640" y="4526280"/>
          <a:ext cx="10607040" cy="1554480"/>
        </p:xfrm>
        <a:graphic>
          <a:graphicData uri="http://schemas.openxmlformats.org/drawingml/2006/chart">
            <c:chart xmlns:c="http://schemas.openxmlformats.org/drawingml/2006/chart" xmlns:r="http://schemas.openxmlformats.org/officeDocument/2006/relationships" r:id="rId12"/>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760"/>
            <a:ext cx="11274552" cy="685800"/>
          </a:xfrm>
        </p:spPr>
        <p:txBody>
          <a:bodyPr/>
          <a:lstStyle/>
          <a:p>
            <a:r>
              <a:rPr sz="2800" b="1">
                <a:solidFill>
                  <a:srgbClr val="FFFFFF"/>
                </a:solidFill>
                <a:latin typeface="Arial"/>
              </a:rPr>
              <a:t>Real-world applications</a:t>
            </a:r>
          </a:p>
        </p:txBody>
      </p:sp>
      <p:sp>
        <p:nvSpPr>
          <p:cNvPr id="3" name="Rounded Rectangle 2"/>
          <p:cNvSpPr/>
          <p:nvPr/>
        </p:nvSpPr>
        <p:spPr>
          <a:xfrm>
            <a:off x="502920" y="1417320"/>
            <a:ext cx="1834835" cy="2788920"/>
          </a:xfrm>
          <a:prstGeom prst="roundRect">
            <a:avLst>
              <a:gd name="adj" fmla="val 6000"/>
            </a:avLst>
          </a:prstGeom>
          <a:solidFill>
            <a:srgbClr val="0A0A5C"/>
          </a:solidFill>
          <a:ln w="12700">
            <a:solidFill>
              <a:srgbClr val="2F78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100297" y="1645920"/>
            <a:ext cx="640080" cy="640080"/>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ndustry_white.png"/>
          <p:cNvPicPr>
            <a:picLocks noChangeAspect="1"/>
          </p:cNvPicPr>
          <p:nvPr/>
        </p:nvPicPr>
        <p:blipFill>
          <a:blip r:embed="rId2"/>
          <a:stretch>
            <a:fillRect/>
          </a:stretch>
        </p:blipFill>
        <p:spPr>
          <a:xfrm>
            <a:off x="1219169" y="1764792"/>
            <a:ext cx="402336" cy="402336"/>
          </a:xfrm>
          <a:prstGeom prst="rect">
            <a:avLst/>
          </a:prstGeom>
        </p:spPr>
      </p:pic>
      <p:sp>
        <p:nvSpPr>
          <p:cNvPr id="6" name="TextBox 5"/>
          <p:cNvSpPr txBox="1"/>
          <p:nvPr/>
        </p:nvSpPr>
        <p:spPr>
          <a:xfrm>
            <a:off x="594360" y="2423160"/>
            <a:ext cx="1651955" cy="365760"/>
          </a:xfrm>
          <a:prstGeom prst="rect">
            <a:avLst/>
          </a:prstGeom>
          <a:noFill/>
        </p:spPr>
        <p:txBody>
          <a:bodyPr wrap="square" lIns="0" tIns="0" rIns="0" bIns="0" anchor="t">
            <a:spAutoFit/>
          </a:bodyPr>
          <a:lstStyle/>
          <a:p>
            <a:pPr algn="ctr">
              <a:buNone/>
            </a:pPr>
            <a:r>
              <a:rPr sz="1500" b="1" i="0">
                <a:solidFill>
                  <a:srgbClr val="FFFFFF"/>
                </a:solidFill>
                <a:latin typeface="Arial"/>
              </a:rPr>
              <a:t>Tesla</a:t>
            </a:r>
          </a:p>
        </p:txBody>
      </p:sp>
      <p:sp>
        <p:nvSpPr>
          <p:cNvPr id="7" name="TextBox 6"/>
          <p:cNvSpPr txBox="1"/>
          <p:nvPr/>
        </p:nvSpPr>
        <p:spPr>
          <a:xfrm>
            <a:off x="640080" y="2880360"/>
            <a:ext cx="1560515" cy="1188720"/>
          </a:xfrm>
          <a:prstGeom prst="rect">
            <a:avLst/>
          </a:prstGeom>
          <a:noFill/>
        </p:spPr>
        <p:txBody>
          <a:bodyPr wrap="square" lIns="0" tIns="0" rIns="0" bIns="0" anchor="t">
            <a:spAutoFit/>
          </a:bodyPr>
          <a:lstStyle/>
          <a:p>
            <a:pPr algn="l">
              <a:spcAft>
                <a:spcPts val="400"/>
              </a:spcAft>
              <a:buFont typeface="Arial"/>
              <a:buChar char="•"/>
            </a:pPr>
            <a:r>
              <a:rPr sz="1050" b="0" i="0">
                <a:solidFill>
                  <a:srgbClr val="D0D0CE"/>
                </a:solidFill>
                <a:latin typeface="Arial"/>
              </a:rPr>
              <a:t>AI-assisted manufacturing</a:t>
            </a:r>
          </a:p>
          <a:p>
            <a:pPr algn="l">
              <a:spcAft>
                <a:spcPts val="400"/>
              </a:spcAft>
              <a:buFont typeface="Arial"/>
              <a:buChar char="•"/>
            </a:pPr>
            <a:r>
              <a:rPr sz="1050" b="0" i="0">
                <a:solidFill>
                  <a:srgbClr val="D0D0CE"/>
                </a:solidFill>
                <a:latin typeface="Arial"/>
              </a:rPr>
              <a:t>Predictive maintenance</a:t>
            </a:r>
          </a:p>
        </p:txBody>
      </p:sp>
      <p:sp>
        <p:nvSpPr>
          <p:cNvPr id="8" name="Rounded Rectangle 7"/>
          <p:cNvSpPr/>
          <p:nvPr/>
        </p:nvSpPr>
        <p:spPr>
          <a:xfrm>
            <a:off x="2566355" y="1417320"/>
            <a:ext cx="1834835" cy="2788920"/>
          </a:xfrm>
          <a:prstGeom prst="roundRect">
            <a:avLst>
              <a:gd name="adj" fmla="val 6000"/>
            </a:avLst>
          </a:prstGeom>
          <a:solidFill>
            <a:srgbClr val="0A0A5C"/>
          </a:solidFill>
          <a:ln w="12700">
            <a:solidFill>
              <a:srgbClr val="2F78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3163732" y="1645920"/>
            <a:ext cx="640080" cy="640080"/>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ndustry_white.png"/>
          <p:cNvPicPr>
            <a:picLocks noChangeAspect="1"/>
          </p:cNvPicPr>
          <p:nvPr/>
        </p:nvPicPr>
        <p:blipFill>
          <a:blip r:embed="rId2"/>
          <a:stretch>
            <a:fillRect/>
          </a:stretch>
        </p:blipFill>
        <p:spPr>
          <a:xfrm>
            <a:off x="3282604" y="1764792"/>
            <a:ext cx="402336" cy="402336"/>
          </a:xfrm>
          <a:prstGeom prst="rect">
            <a:avLst/>
          </a:prstGeom>
        </p:spPr>
      </p:pic>
      <p:sp>
        <p:nvSpPr>
          <p:cNvPr id="11" name="TextBox 10"/>
          <p:cNvSpPr txBox="1"/>
          <p:nvPr/>
        </p:nvSpPr>
        <p:spPr>
          <a:xfrm>
            <a:off x="2657795" y="2423160"/>
            <a:ext cx="1651955" cy="365760"/>
          </a:xfrm>
          <a:prstGeom prst="rect">
            <a:avLst/>
          </a:prstGeom>
          <a:noFill/>
        </p:spPr>
        <p:txBody>
          <a:bodyPr wrap="square" lIns="0" tIns="0" rIns="0" bIns="0" anchor="t">
            <a:spAutoFit/>
          </a:bodyPr>
          <a:lstStyle/>
          <a:p>
            <a:pPr algn="ctr">
              <a:buNone/>
            </a:pPr>
            <a:r>
              <a:rPr sz="1500" b="1" i="0">
                <a:solidFill>
                  <a:srgbClr val="FFFFFF"/>
                </a:solidFill>
                <a:latin typeface="Arial"/>
              </a:rPr>
              <a:t>BMW</a:t>
            </a:r>
          </a:p>
        </p:txBody>
      </p:sp>
      <p:sp>
        <p:nvSpPr>
          <p:cNvPr id="12" name="TextBox 11"/>
          <p:cNvSpPr txBox="1"/>
          <p:nvPr/>
        </p:nvSpPr>
        <p:spPr>
          <a:xfrm>
            <a:off x="2703515" y="2880360"/>
            <a:ext cx="1560515" cy="1188720"/>
          </a:xfrm>
          <a:prstGeom prst="rect">
            <a:avLst/>
          </a:prstGeom>
          <a:noFill/>
        </p:spPr>
        <p:txBody>
          <a:bodyPr wrap="square" lIns="0" tIns="0" rIns="0" bIns="0" anchor="t">
            <a:spAutoFit/>
          </a:bodyPr>
          <a:lstStyle/>
          <a:p>
            <a:pPr algn="l">
              <a:spcAft>
                <a:spcPts val="400"/>
              </a:spcAft>
              <a:buFont typeface="Arial"/>
              <a:buChar char="•"/>
            </a:pPr>
            <a:r>
              <a:rPr sz="1050" b="0" i="0">
                <a:solidFill>
                  <a:srgbClr val="D0D0CE"/>
                </a:solidFill>
                <a:latin typeface="Arial"/>
              </a:rPr>
              <a:t>AI quality inspection</a:t>
            </a:r>
          </a:p>
        </p:txBody>
      </p:sp>
      <p:sp>
        <p:nvSpPr>
          <p:cNvPr id="13" name="Rounded Rectangle 12"/>
          <p:cNvSpPr/>
          <p:nvPr/>
        </p:nvSpPr>
        <p:spPr>
          <a:xfrm>
            <a:off x="4629790" y="1417320"/>
            <a:ext cx="1834835" cy="2788920"/>
          </a:xfrm>
          <a:prstGeom prst="roundRect">
            <a:avLst>
              <a:gd name="adj" fmla="val 6000"/>
            </a:avLst>
          </a:prstGeom>
          <a:solidFill>
            <a:srgbClr val="0A0A5C"/>
          </a:solidFill>
          <a:ln w="12700">
            <a:solidFill>
              <a:srgbClr val="2F78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5227167" y="1645920"/>
            <a:ext cx="640080" cy="640080"/>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industry_white.png"/>
          <p:cNvPicPr>
            <a:picLocks noChangeAspect="1"/>
          </p:cNvPicPr>
          <p:nvPr/>
        </p:nvPicPr>
        <p:blipFill>
          <a:blip r:embed="rId2"/>
          <a:stretch>
            <a:fillRect/>
          </a:stretch>
        </p:blipFill>
        <p:spPr>
          <a:xfrm>
            <a:off x="5346039" y="1764792"/>
            <a:ext cx="402336" cy="402336"/>
          </a:xfrm>
          <a:prstGeom prst="rect">
            <a:avLst/>
          </a:prstGeom>
        </p:spPr>
      </p:pic>
      <p:sp>
        <p:nvSpPr>
          <p:cNvPr id="16" name="TextBox 15"/>
          <p:cNvSpPr txBox="1"/>
          <p:nvPr/>
        </p:nvSpPr>
        <p:spPr>
          <a:xfrm>
            <a:off x="4721230" y="2423160"/>
            <a:ext cx="1651955" cy="365760"/>
          </a:xfrm>
          <a:prstGeom prst="rect">
            <a:avLst/>
          </a:prstGeom>
          <a:noFill/>
        </p:spPr>
        <p:txBody>
          <a:bodyPr wrap="square" lIns="0" tIns="0" rIns="0" bIns="0" anchor="t">
            <a:spAutoFit/>
          </a:bodyPr>
          <a:lstStyle/>
          <a:p>
            <a:pPr algn="ctr">
              <a:buNone/>
            </a:pPr>
            <a:r>
              <a:rPr sz="1500" b="1" i="0">
                <a:solidFill>
                  <a:srgbClr val="FFFFFF"/>
                </a:solidFill>
                <a:latin typeface="Arial"/>
              </a:rPr>
              <a:t>Siemens</a:t>
            </a:r>
          </a:p>
        </p:txBody>
      </p:sp>
      <p:sp>
        <p:nvSpPr>
          <p:cNvPr id="17" name="TextBox 16"/>
          <p:cNvSpPr txBox="1"/>
          <p:nvPr/>
        </p:nvSpPr>
        <p:spPr>
          <a:xfrm>
            <a:off x="4766950" y="2880360"/>
            <a:ext cx="1560515" cy="1188720"/>
          </a:xfrm>
          <a:prstGeom prst="rect">
            <a:avLst/>
          </a:prstGeom>
          <a:noFill/>
        </p:spPr>
        <p:txBody>
          <a:bodyPr wrap="square" lIns="0" tIns="0" rIns="0" bIns="0" anchor="t">
            <a:spAutoFit/>
          </a:bodyPr>
          <a:lstStyle/>
          <a:p>
            <a:pPr algn="l">
              <a:spcAft>
                <a:spcPts val="400"/>
              </a:spcAft>
              <a:buFont typeface="Arial"/>
              <a:buChar char="•"/>
            </a:pPr>
            <a:r>
              <a:rPr sz="1050" b="0" i="0">
                <a:solidFill>
                  <a:srgbClr val="D0D0CE"/>
                </a:solidFill>
                <a:latin typeface="Arial"/>
              </a:rPr>
              <a:t>Digital twin technology</a:t>
            </a:r>
          </a:p>
        </p:txBody>
      </p:sp>
      <p:sp>
        <p:nvSpPr>
          <p:cNvPr id="18" name="Rounded Rectangle 17"/>
          <p:cNvSpPr/>
          <p:nvPr/>
        </p:nvSpPr>
        <p:spPr>
          <a:xfrm>
            <a:off x="6693225" y="1417320"/>
            <a:ext cx="1834835" cy="2788920"/>
          </a:xfrm>
          <a:prstGeom prst="roundRect">
            <a:avLst>
              <a:gd name="adj" fmla="val 6000"/>
            </a:avLst>
          </a:prstGeom>
          <a:solidFill>
            <a:srgbClr val="0A0A5C"/>
          </a:solidFill>
          <a:ln w="12700">
            <a:solidFill>
              <a:srgbClr val="2F78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290602" y="1645920"/>
            <a:ext cx="640080" cy="640080"/>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industry_white.png"/>
          <p:cNvPicPr>
            <a:picLocks noChangeAspect="1"/>
          </p:cNvPicPr>
          <p:nvPr/>
        </p:nvPicPr>
        <p:blipFill>
          <a:blip r:embed="rId2"/>
          <a:stretch>
            <a:fillRect/>
          </a:stretch>
        </p:blipFill>
        <p:spPr>
          <a:xfrm>
            <a:off x="7409474" y="1764792"/>
            <a:ext cx="402336" cy="402336"/>
          </a:xfrm>
          <a:prstGeom prst="rect">
            <a:avLst/>
          </a:prstGeom>
        </p:spPr>
      </p:pic>
      <p:sp>
        <p:nvSpPr>
          <p:cNvPr id="21" name="TextBox 20"/>
          <p:cNvSpPr txBox="1"/>
          <p:nvPr/>
        </p:nvSpPr>
        <p:spPr>
          <a:xfrm>
            <a:off x="6784665" y="2423160"/>
            <a:ext cx="1651955" cy="365760"/>
          </a:xfrm>
          <a:prstGeom prst="rect">
            <a:avLst/>
          </a:prstGeom>
          <a:noFill/>
        </p:spPr>
        <p:txBody>
          <a:bodyPr wrap="square" lIns="0" tIns="0" rIns="0" bIns="0" anchor="t">
            <a:spAutoFit/>
          </a:bodyPr>
          <a:lstStyle/>
          <a:p>
            <a:pPr algn="ctr">
              <a:buNone/>
            </a:pPr>
            <a:r>
              <a:rPr sz="1500" b="1" i="0">
                <a:solidFill>
                  <a:srgbClr val="FFFFFF"/>
                </a:solidFill>
                <a:latin typeface="Arial"/>
              </a:rPr>
              <a:t>GE</a:t>
            </a:r>
          </a:p>
        </p:txBody>
      </p:sp>
      <p:sp>
        <p:nvSpPr>
          <p:cNvPr id="22" name="TextBox 21"/>
          <p:cNvSpPr txBox="1"/>
          <p:nvPr/>
        </p:nvSpPr>
        <p:spPr>
          <a:xfrm>
            <a:off x="6830385" y="2880360"/>
            <a:ext cx="1560515" cy="1188720"/>
          </a:xfrm>
          <a:prstGeom prst="rect">
            <a:avLst/>
          </a:prstGeom>
          <a:noFill/>
        </p:spPr>
        <p:txBody>
          <a:bodyPr wrap="square" lIns="0" tIns="0" rIns="0" bIns="0" anchor="t">
            <a:spAutoFit/>
          </a:bodyPr>
          <a:lstStyle/>
          <a:p>
            <a:pPr algn="l">
              <a:spcAft>
                <a:spcPts val="400"/>
              </a:spcAft>
              <a:buFont typeface="Arial"/>
              <a:buChar char="•"/>
            </a:pPr>
            <a:r>
              <a:rPr sz="1050" b="0" i="0">
                <a:solidFill>
                  <a:srgbClr val="D0D0CE"/>
                </a:solidFill>
                <a:latin typeface="Arial"/>
              </a:rPr>
              <a:t>Predictive maintenance</a:t>
            </a:r>
          </a:p>
        </p:txBody>
      </p:sp>
      <p:sp>
        <p:nvSpPr>
          <p:cNvPr id="23" name="Rounded Rectangle 22"/>
          <p:cNvSpPr/>
          <p:nvPr/>
        </p:nvSpPr>
        <p:spPr>
          <a:xfrm>
            <a:off x="8756660" y="1417320"/>
            <a:ext cx="1834835" cy="2788920"/>
          </a:xfrm>
          <a:prstGeom prst="roundRect">
            <a:avLst>
              <a:gd name="adj" fmla="val 6000"/>
            </a:avLst>
          </a:prstGeom>
          <a:solidFill>
            <a:srgbClr val="0A0A5C"/>
          </a:solidFill>
          <a:ln w="12700">
            <a:solidFill>
              <a:srgbClr val="2F78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354037" y="1645920"/>
            <a:ext cx="640080" cy="640080"/>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industry_white.png"/>
          <p:cNvPicPr>
            <a:picLocks noChangeAspect="1"/>
          </p:cNvPicPr>
          <p:nvPr/>
        </p:nvPicPr>
        <p:blipFill>
          <a:blip r:embed="rId2"/>
          <a:stretch>
            <a:fillRect/>
          </a:stretch>
        </p:blipFill>
        <p:spPr>
          <a:xfrm>
            <a:off x="9472909" y="1764792"/>
            <a:ext cx="402336" cy="402336"/>
          </a:xfrm>
          <a:prstGeom prst="rect">
            <a:avLst/>
          </a:prstGeom>
        </p:spPr>
      </p:pic>
      <p:sp>
        <p:nvSpPr>
          <p:cNvPr id="26" name="TextBox 25"/>
          <p:cNvSpPr txBox="1"/>
          <p:nvPr/>
        </p:nvSpPr>
        <p:spPr>
          <a:xfrm>
            <a:off x="8848100" y="2423160"/>
            <a:ext cx="1651955" cy="365760"/>
          </a:xfrm>
          <a:prstGeom prst="rect">
            <a:avLst/>
          </a:prstGeom>
          <a:noFill/>
        </p:spPr>
        <p:txBody>
          <a:bodyPr wrap="square" lIns="0" tIns="0" rIns="0" bIns="0" anchor="t">
            <a:spAutoFit/>
          </a:bodyPr>
          <a:lstStyle/>
          <a:p>
            <a:pPr algn="ctr">
              <a:buNone/>
            </a:pPr>
            <a:r>
              <a:rPr sz="1500" b="1" i="0">
                <a:solidFill>
                  <a:srgbClr val="FFFFFF"/>
                </a:solidFill>
                <a:latin typeface="Arial"/>
              </a:rPr>
              <a:t>Toyota</a:t>
            </a:r>
          </a:p>
        </p:txBody>
      </p:sp>
      <p:sp>
        <p:nvSpPr>
          <p:cNvPr id="27" name="TextBox 26"/>
          <p:cNvSpPr txBox="1"/>
          <p:nvPr/>
        </p:nvSpPr>
        <p:spPr>
          <a:xfrm>
            <a:off x="8893820" y="2880360"/>
            <a:ext cx="1560515" cy="1188720"/>
          </a:xfrm>
          <a:prstGeom prst="rect">
            <a:avLst/>
          </a:prstGeom>
          <a:noFill/>
        </p:spPr>
        <p:txBody>
          <a:bodyPr wrap="square" lIns="0" tIns="0" rIns="0" bIns="0" anchor="t">
            <a:spAutoFit/>
          </a:bodyPr>
          <a:lstStyle/>
          <a:p>
            <a:pPr algn="l">
              <a:spcAft>
                <a:spcPts val="400"/>
              </a:spcAft>
              <a:buFont typeface="Arial"/>
              <a:buChar char="•"/>
            </a:pPr>
            <a:r>
              <a:rPr sz="1050" b="0" i="0">
                <a:solidFill>
                  <a:srgbClr val="D0D0CE"/>
                </a:solidFill>
                <a:latin typeface="Arial"/>
              </a:rPr>
              <a:t>Smart factory automation</a:t>
            </a:r>
          </a:p>
        </p:txBody>
      </p:sp>
      <p:pic>
        <p:nvPicPr>
          <p:cNvPr id="28" name="Picture 27" descr="globe_lightblue.png"/>
          <p:cNvPicPr>
            <a:picLocks noChangeAspect="1"/>
          </p:cNvPicPr>
          <p:nvPr/>
        </p:nvPicPr>
        <p:blipFill>
          <a:blip r:embed="rId3"/>
          <a:stretch>
            <a:fillRect/>
          </a:stretch>
        </p:blipFill>
        <p:spPr>
          <a:xfrm>
            <a:off x="502920" y="4434840"/>
            <a:ext cx="502920" cy="502920"/>
          </a:xfrm>
          <a:prstGeom prst="rect">
            <a:avLst/>
          </a:prstGeom>
        </p:spPr>
      </p:pic>
      <p:sp>
        <p:nvSpPr>
          <p:cNvPr id="29" name="TextBox 28"/>
          <p:cNvSpPr txBox="1"/>
          <p:nvPr/>
        </p:nvSpPr>
        <p:spPr>
          <a:xfrm>
            <a:off x="1097280" y="4434840"/>
            <a:ext cx="5486400" cy="502920"/>
          </a:xfrm>
          <a:prstGeom prst="rect">
            <a:avLst/>
          </a:prstGeom>
          <a:noFill/>
        </p:spPr>
        <p:txBody>
          <a:bodyPr wrap="square" lIns="0" tIns="0" rIns="0" bIns="0" anchor="ctr">
            <a:spAutoFit/>
          </a:bodyPr>
          <a:lstStyle/>
          <a:p>
            <a:pPr algn="l">
              <a:buNone/>
            </a:pPr>
            <a:r>
              <a:rPr sz="1150" b="0" i="0">
                <a:solidFill>
                  <a:srgbClr val="D0D0CE"/>
                </a:solidFill>
                <a:latin typeface="Arial"/>
              </a:rPr>
              <a:t>Five global manufacturers are leading industrial AI innovation across North America, Europe and Asia</a:t>
            </a:r>
          </a:p>
        </p:txBody>
      </p:sp>
      <p:pic>
        <p:nvPicPr>
          <p:cNvPr id="30" name="Picture 29" descr="gauge_lightblue.png"/>
          <p:cNvPicPr>
            <a:picLocks noChangeAspect="1"/>
          </p:cNvPicPr>
          <p:nvPr/>
        </p:nvPicPr>
        <p:blipFill>
          <a:blip r:embed="rId4"/>
          <a:stretch>
            <a:fillRect/>
          </a:stretch>
        </p:blipFill>
        <p:spPr>
          <a:xfrm>
            <a:off x="7043508" y="4434840"/>
            <a:ext cx="402336" cy="402336"/>
          </a:xfrm>
          <a:prstGeom prst="rect">
            <a:avLst/>
          </a:prstGeom>
        </p:spPr>
      </p:pic>
      <p:sp>
        <p:nvSpPr>
          <p:cNvPr id="31" name="TextBox 30"/>
          <p:cNvSpPr txBox="1"/>
          <p:nvPr/>
        </p:nvSpPr>
        <p:spPr>
          <a:xfrm>
            <a:off x="6766560" y="4892040"/>
            <a:ext cx="956233" cy="457200"/>
          </a:xfrm>
          <a:prstGeom prst="rect">
            <a:avLst/>
          </a:prstGeom>
          <a:noFill/>
        </p:spPr>
        <p:txBody>
          <a:bodyPr wrap="square" lIns="0" tIns="0" rIns="0" bIns="0" anchor="t">
            <a:spAutoFit/>
          </a:bodyPr>
          <a:lstStyle/>
          <a:p>
            <a:pPr algn="ctr">
              <a:buNone/>
            </a:pPr>
            <a:r>
              <a:rPr sz="950" b="0" i="0">
                <a:solidFill>
                  <a:srgbClr val="D0D0CE"/>
                </a:solidFill>
                <a:latin typeface="Arial"/>
              </a:rPr>
              <a:t>Predictive maintenance</a:t>
            </a:r>
          </a:p>
        </p:txBody>
      </p:sp>
      <p:pic>
        <p:nvPicPr>
          <p:cNvPr id="32" name="Picture 31" descr="eye_lightblue.png"/>
          <p:cNvPicPr>
            <a:picLocks noChangeAspect="1"/>
          </p:cNvPicPr>
          <p:nvPr/>
        </p:nvPicPr>
        <p:blipFill>
          <a:blip r:embed="rId5"/>
          <a:stretch>
            <a:fillRect/>
          </a:stretch>
        </p:blipFill>
        <p:spPr>
          <a:xfrm>
            <a:off x="7999742" y="4434840"/>
            <a:ext cx="402336" cy="402336"/>
          </a:xfrm>
          <a:prstGeom prst="rect">
            <a:avLst/>
          </a:prstGeom>
        </p:spPr>
      </p:pic>
      <p:sp>
        <p:nvSpPr>
          <p:cNvPr id="33" name="TextBox 32"/>
          <p:cNvSpPr txBox="1"/>
          <p:nvPr/>
        </p:nvSpPr>
        <p:spPr>
          <a:xfrm>
            <a:off x="7722793" y="4892040"/>
            <a:ext cx="956233" cy="457200"/>
          </a:xfrm>
          <a:prstGeom prst="rect">
            <a:avLst/>
          </a:prstGeom>
          <a:noFill/>
        </p:spPr>
        <p:txBody>
          <a:bodyPr wrap="square" lIns="0" tIns="0" rIns="0" bIns="0" anchor="t">
            <a:spAutoFit/>
          </a:bodyPr>
          <a:lstStyle/>
          <a:p>
            <a:pPr algn="ctr">
              <a:buNone/>
            </a:pPr>
            <a:r>
              <a:rPr sz="950" b="0" i="0">
                <a:solidFill>
                  <a:srgbClr val="D0D0CE"/>
                </a:solidFill>
                <a:latin typeface="Arial"/>
              </a:rPr>
              <a:t>Quality inspection</a:t>
            </a:r>
          </a:p>
        </p:txBody>
      </p:sp>
      <p:pic>
        <p:nvPicPr>
          <p:cNvPr id="34" name="Picture 33" descr="sync_lightblue.png"/>
          <p:cNvPicPr>
            <a:picLocks noChangeAspect="1"/>
          </p:cNvPicPr>
          <p:nvPr/>
        </p:nvPicPr>
        <p:blipFill>
          <a:blip r:embed="rId6"/>
          <a:stretch>
            <a:fillRect/>
          </a:stretch>
        </p:blipFill>
        <p:spPr>
          <a:xfrm>
            <a:off x="8955976" y="4434840"/>
            <a:ext cx="402336" cy="402336"/>
          </a:xfrm>
          <a:prstGeom prst="rect">
            <a:avLst/>
          </a:prstGeom>
        </p:spPr>
      </p:pic>
      <p:sp>
        <p:nvSpPr>
          <p:cNvPr id="35" name="TextBox 34"/>
          <p:cNvSpPr txBox="1"/>
          <p:nvPr/>
        </p:nvSpPr>
        <p:spPr>
          <a:xfrm>
            <a:off x="8679027" y="4892040"/>
            <a:ext cx="956233" cy="457200"/>
          </a:xfrm>
          <a:prstGeom prst="rect">
            <a:avLst/>
          </a:prstGeom>
          <a:noFill/>
        </p:spPr>
        <p:txBody>
          <a:bodyPr wrap="square" lIns="0" tIns="0" rIns="0" bIns="0" anchor="t">
            <a:spAutoFit/>
          </a:bodyPr>
          <a:lstStyle/>
          <a:p>
            <a:pPr algn="ctr">
              <a:buNone/>
            </a:pPr>
            <a:r>
              <a:rPr sz="950" b="0" i="0">
                <a:solidFill>
                  <a:srgbClr val="D0D0CE"/>
                </a:solidFill>
                <a:latin typeface="Arial"/>
              </a:rPr>
              <a:t>Digital twins</a:t>
            </a:r>
          </a:p>
        </p:txBody>
      </p:sp>
      <p:pic>
        <p:nvPicPr>
          <p:cNvPr id="36" name="Picture 35" descr="robot_lightblue.png"/>
          <p:cNvPicPr>
            <a:picLocks noChangeAspect="1"/>
          </p:cNvPicPr>
          <p:nvPr/>
        </p:nvPicPr>
        <p:blipFill>
          <a:blip r:embed="rId7"/>
          <a:stretch>
            <a:fillRect/>
          </a:stretch>
        </p:blipFill>
        <p:spPr>
          <a:xfrm>
            <a:off x="9912210" y="4434840"/>
            <a:ext cx="402336" cy="402336"/>
          </a:xfrm>
          <a:prstGeom prst="rect">
            <a:avLst/>
          </a:prstGeom>
        </p:spPr>
      </p:pic>
      <p:sp>
        <p:nvSpPr>
          <p:cNvPr id="37" name="TextBox 36"/>
          <p:cNvSpPr txBox="1"/>
          <p:nvPr/>
        </p:nvSpPr>
        <p:spPr>
          <a:xfrm>
            <a:off x="9635261" y="4892040"/>
            <a:ext cx="956233" cy="457200"/>
          </a:xfrm>
          <a:prstGeom prst="rect">
            <a:avLst/>
          </a:prstGeom>
          <a:noFill/>
        </p:spPr>
        <p:txBody>
          <a:bodyPr wrap="square" lIns="0" tIns="0" rIns="0" bIns="0" anchor="t">
            <a:spAutoFit/>
          </a:bodyPr>
          <a:lstStyle/>
          <a:p>
            <a:pPr algn="ctr">
              <a:buNone/>
            </a:pPr>
            <a:r>
              <a:rPr sz="950" b="0" i="0">
                <a:solidFill>
                  <a:srgbClr val="D0D0CE"/>
                </a:solidFill>
                <a:latin typeface="Arial"/>
              </a:rPr>
              <a:t>Smart automation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760"/>
            <a:ext cx="11274552" cy="685800"/>
          </a:xfrm>
        </p:spPr>
        <p:txBody>
          <a:bodyPr/>
          <a:lstStyle/>
          <a:p>
            <a:r>
              <a:rPr sz="2800" b="1">
                <a:solidFill>
                  <a:srgbClr val="FFFFFF"/>
                </a:solidFill>
                <a:latin typeface="Arial"/>
              </a:rPr>
              <a:t>Crossword puzzle</a:t>
            </a:r>
          </a:p>
        </p:txBody>
      </p:sp>
      <p:sp>
        <p:nvSpPr>
          <p:cNvPr id="3" name="Rounded Rectangle 2"/>
          <p:cNvSpPr/>
          <p:nvPr/>
        </p:nvSpPr>
        <p:spPr>
          <a:xfrm>
            <a:off x="301752" y="1216152"/>
            <a:ext cx="4754880" cy="4133088"/>
          </a:xfrm>
          <a:prstGeom prst="roundRect">
            <a:avLst>
              <a:gd name="adj" fmla="val 4000"/>
            </a:avLst>
          </a:prstGeom>
          <a:solidFill>
            <a:srgbClr val="0A0A5C"/>
          </a:solidFill>
          <a:ln w="15875">
            <a:solidFill>
              <a:srgbClr val="2F78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300984" y="1417320"/>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323844" y="1426464"/>
            <a:ext cx="265176" cy="137160"/>
          </a:xfrm>
          <a:prstGeom prst="rect">
            <a:avLst/>
          </a:prstGeom>
          <a:noFill/>
        </p:spPr>
        <p:txBody>
          <a:bodyPr wrap="square" lIns="0" tIns="0" rIns="0" bIns="0" anchor="t">
            <a:spAutoFit/>
          </a:bodyPr>
          <a:lstStyle/>
          <a:p>
            <a:pPr algn="l">
              <a:buNone/>
            </a:pPr>
            <a:r>
              <a:rPr sz="700" b="1" i="0">
                <a:solidFill>
                  <a:srgbClr val="000048"/>
                </a:solidFill>
                <a:latin typeface="Arial"/>
              </a:rPr>
              <a:t>1</a:t>
            </a:r>
          </a:p>
        </p:txBody>
      </p:sp>
      <p:sp>
        <p:nvSpPr>
          <p:cNvPr id="6" name="Rectangle 5"/>
          <p:cNvSpPr/>
          <p:nvPr/>
        </p:nvSpPr>
        <p:spPr>
          <a:xfrm>
            <a:off x="1124712" y="1728216"/>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47572" y="1737360"/>
            <a:ext cx="265176" cy="137160"/>
          </a:xfrm>
          <a:prstGeom prst="rect">
            <a:avLst/>
          </a:prstGeom>
          <a:noFill/>
        </p:spPr>
        <p:txBody>
          <a:bodyPr wrap="square" lIns="0" tIns="0" rIns="0" bIns="0" anchor="t">
            <a:spAutoFit/>
          </a:bodyPr>
          <a:lstStyle/>
          <a:p>
            <a:pPr algn="l">
              <a:buNone/>
            </a:pPr>
            <a:r>
              <a:rPr sz="700" b="1" i="0">
                <a:solidFill>
                  <a:srgbClr val="000048"/>
                </a:solidFill>
                <a:latin typeface="Arial"/>
              </a:rPr>
              <a:t>2</a:t>
            </a:r>
          </a:p>
        </p:txBody>
      </p:sp>
      <p:sp>
        <p:nvSpPr>
          <p:cNvPr id="8" name="Rectangle 7"/>
          <p:cNvSpPr/>
          <p:nvPr/>
        </p:nvSpPr>
        <p:spPr>
          <a:xfrm>
            <a:off x="2368296" y="1728216"/>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391156" y="1737360"/>
            <a:ext cx="265176" cy="137160"/>
          </a:xfrm>
          <a:prstGeom prst="rect">
            <a:avLst/>
          </a:prstGeom>
          <a:noFill/>
        </p:spPr>
        <p:txBody>
          <a:bodyPr wrap="square" lIns="0" tIns="0" rIns="0" bIns="0" anchor="t">
            <a:spAutoFit/>
          </a:bodyPr>
          <a:lstStyle/>
          <a:p>
            <a:pPr algn="l">
              <a:buNone/>
            </a:pPr>
            <a:r>
              <a:rPr sz="700" b="1" i="0">
                <a:solidFill>
                  <a:srgbClr val="000048"/>
                </a:solidFill>
                <a:latin typeface="Arial"/>
              </a:rPr>
              <a:t>3</a:t>
            </a:r>
          </a:p>
        </p:txBody>
      </p:sp>
      <p:sp>
        <p:nvSpPr>
          <p:cNvPr id="10" name="Rectangle 9"/>
          <p:cNvSpPr/>
          <p:nvPr/>
        </p:nvSpPr>
        <p:spPr>
          <a:xfrm>
            <a:off x="2679192" y="1728216"/>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990088" y="1728216"/>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12948" y="1737360"/>
            <a:ext cx="265176" cy="137160"/>
          </a:xfrm>
          <a:prstGeom prst="rect">
            <a:avLst/>
          </a:prstGeom>
          <a:noFill/>
        </p:spPr>
        <p:txBody>
          <a:bodyPr wrap="square" lIns="0" tIns="0" rIns="0" bIns="0" anchor="t">
            <a:spAutoFit/>
          </a:bodyPr>
          <a:lstStyle/>
          <a:p>
            <a:pPr algn="l">
              <a:buNone/>
            </a:pPr>
            <a:r>
              <a:rPr sz="700" b="1" i="0">
                <a:solidFill>
                  <a:srgbClr val="000048"/>
                </a:solidFill>
                <a:latin typeface="Arial"/>
              </a:rPr>
              <a:t>4</a:t>
            </a:r>
          </a:p>
        </p:txBody>
      </p:sp>
      <p:sp>
        <p:nvSpPr>
          <p:cNvPr id="13" name="Rectangle 12"/>
          <p:cNvSpPr/>
          <p:nvPr/>
        </p:nvSpPr>
        <p:spPr>
          <a:xfrm>
            <a:off x="3300984" y="1728216"/>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611880" y="1728216"/>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922776" y="1728216"/>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233672" y="1728216"/>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2039112"/>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5780" y="2048255"/>
            <a:ext cx="265176" cy="137160"/>
          </a:xfrm>
          <a:prstGeom prst="rect">
            <a:avLst/>
          </a:prstGeom>
          <a:noFill/>
        </p:spPr>
        <p:txBody>
          <a:bodyPr wrap="square" lIns="0" tIns="0" rIns="0" bIns="0" anchor="t">
            <a:spAutoFit/>
          </a:bodyPr>
          <a:lstStyle/>
          <a:p>
            <a:pPr algn="l">
              <a:buNone/>
            </a:pPr>
            <a:r>
              <a:rPr sz="700" b="1" i="0">
                <a:solidFill>
                  <a:srgbClr val="000048"/>
                </a:solidFill>
                <a:latin typeface="Arial"/>
              </a:rPr>
              <a:t>5</a:t>
            </a:r>
          </a:p>
        </p:txBody>
      </p:sp>
      <p:sp>
        <p:nvSpPr>
          <p:cNvPr id="19" name="Rectangle 18"/>
          <p:cNvSpPr/>
          <p:nvPr/>
        </p:nvSpPr>
        <p:spPr>
          <a:xfrm>
            <a:off x="813816" y="2039112"/>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1124712" y="2039112"/>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435608" y="2039112"/>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458468" y="2048255"/>
            <a:ext cx="265176" cy="137160"/>
          </a:xfrm>
          <a:prstGeom prst="rect">
            <a:avLst/>
          </a:prstGeom>
          <a:noFill/>
        </p:spPr>
        <p:txBody>
          <a:bodyPr wrap="square" lIns="0" tIns="0" rIns="0" bIns="0" anchor="t">
            <a:spAutoFit/>
          </a:bodyPr>
          <a:lstStyle/>
          <a:p>
            <a:pPr algn="l">
              <a:buNone/>
            </a:pPr>
            <a:r>
              <a:rPr sz="700" b="1" i="0">
                <a:solidFill>
                  <a:srgbClr val="000048"/>
                </a:solidFill>
                <a:latin typeface="Arial"/>
              </a:rPr>
              <a:t>6</a:t>
            </a:r>
          </a:p>
        </p:txBody>
      </p:sp>
      <p:sp>
        <p:nvSpPr>
          <p:cNvPr id="23" name="Rectangle 22"/>
          <p:cNvSpPr/>
          <p:nvPr/>
        </p:nvSpPr>
        <p:spPr>
          <a:xfrm>
            <a:off x="1746504" y="2039112"/>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057400" y="2039112"/>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368296" y="2039112"/>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679192" y="2039112"/>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990088" y="2039112"/>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1124712" y="2350008"/>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435608" y="2350008"/>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368296" y="2350008"/>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391156" y="2359152"/>
            <a:ext cx="265176" cy="137160"/>
          </a:xfrm>
          <a:prstGeom prst="rect">
            <a:avLst/>
          </a:prstGeom>
          <a:noFill/>
        </p:spPr>
        <p:txBody>
          <a:bodyPr wrap="square" lIns="0" tIns="0" rIns="0" bIns="0" anchor="t">
            <a:spAutoFit/>
          </a:bodyPr>
          <a:lstStyle/>
          <a:p>
            <a:pPr algn="l">
              <a:buNone/>
            </a:pPr>
            <a:r>
              <a:rPr sz="700" b="1" i="0">
                <a:solidFill>
                  <a:srgbClr val="000048"/>
                </a:solidFill>
                <a:latin typeface="Arial"/>
              </a:rPr>
              <a:t>7</a:t>
            </a:r>
          </a:p>
        </p:txBody>
      </p:sp>
      <p:sp>
        <p:nvSpPr>
          <p:cNvPr id="32" name="Rectangle 31"/>
          <p:cNvSpPr/>
          <p:nvPr/>
        </p:nvSpPr>
        <p:spPr>
          <a:xfrm>
            <a:off x="2679192" y="2350008"/>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2990088" y="2350008"/>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300984" y="2350008"/>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611880" y="2350008"/>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922776" y="2350008"/>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124712" y="2660904"/>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1435608" y="2660904"/>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679192" y="2660904"/>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702052" y="2670048"/>
            <a:ext cx="265176" cy="137160"/>
          </a:xfrm>
          <a:prstGeom prst="rect">
            <a:avLst/>
          </a:prstGeom>
          <a:noFill/>
        </p:spPr>
        <p:txBody>
          <a:bodyPr wrap="square" lIns="0" tIns="0" rIns="0" bIns="0" anchor="t">
            <a:spAutoFit/>
          </a:bodyPr>
          <a:lstStyle/>
          <a:p>
            <a:pPr algn="l">
              <a:buNone/>
            </a:pPr>
            <a:r>
              <a:rPr sz="700" b="1" i="0">
                <a:solidFill>
                  <a:srgbClr val="000048"/>
                </a:solidFill>
                <a:latin typeface="Arial"/>
              </a:rPr>
              <a:t>8</a:t>
            </a:r>
          </a:p>
        </p:txBody>
      </p:sp>
      <p:sp>
        <p:nvSpPr>
          <p:cNvPr id="41" name="Rectangle 40"/>
          <p:cNvSpPr/>
          <p:nvPr/>
        </p:nvSpPr>
        <p:spPr>
          <a:xfrm>
            <a:off x="2990088" y="2660904"/>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3300984" y="2660904"/>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3611880" y="2660904"/>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3922776" y="2660904"/>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4233672" y="2660904"/>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1124712" y="2971800"/>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1435608" y="2971800"/>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2679192" y="2971800"/>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702052" y="2980944"/>
            <a:ext cx="265176" cy="137160"/>
          </a:xfrm>
          <a:prstGeom prst="rect">
            <a:avLst/>
          </a:prstGeom>
          <a:noFill/>
        </p:spPr>
        <p:txBody>
          <a:bodyPr wrap="square" lIns="0" tIns="0" rIns="0" bIns="0" anchor="t">
            <a:spAutoFit/>
          </a:bodyPr>
          <a:lstStyle/>
          <a:p>
            <a:pPr algn="l">
              <a:buNone/>
            </a:pPr>
            <a:r>
              <a:rPr sz="700" b="1" i="0">
                <a:solidFill>
                  <a:srgbClr val="000048"/>
                </a:solidFill>
                <a:latin typeface="Arial"/>
              </a:rPr>
              <a:t>9</a:t>
            </a:r>
          </a:p>
        </p:txBody>
      </p:sp>
      <p:sp>
        <p:nvSpPr>
          <p:cNvPr id="50" name="Rectangle 49"/>
          <p:cNvSpPr/>
          <p:nvPr/>
        </p:nvSpPr>
        <p:spPr>
          <a:xfrm>
            <a:off x="2990088" y="2971800"/>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2679192" y="3282696"/>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2990088" y="3282696"/>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2679192" y="3593592"/>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2990088" y="3593592"/>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2679192" y="3904488"/>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2990088" y="3904488"/>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2679192" y="4215384"/>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2990088" y="4215384"/>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1435608" y="4526280"/>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1458468" y="4535424"/>
            <a:ext cx="265176" cy="137160"/>
          </a:xfrm>
          <a:prstGeom prst="rect">
            <a:avLst/>
          </a:prstGeom>
          <a:noFill/>
        </p:spPr>
        <p:txBody>
          <a:bodyPr wrap="square" lIns="0" tIns="0" rIns="0" bIns="0" anchor="t">
            <a:spAutoFit/>
          </a:bodyPr>
          <a:lstStyle/>
          <a:p>
            <a:pPr algn="l">
              <a:buNone/>
            </a:pPr>
            <a:r>
              <a:rPr sz="700" b="1" i="0">
                <a:solidFill>
                  <a:srgbClr val="000048"/>
                </a:solidFill>
                <a:latin typeface="Arial"/>
              </a:rPr>
              <a:t>10</a:t>
            </a:r>
          </a:p>
        </p:txBody>
      </p:sp>
      <p:sp>
        <p:nvSpPr>
          <p:cNvPr id="61" name="Rectangle 60"/>
          <p:cNvSpPr/>
          <p:nvPr/>
        </p:nvSpPr>
        <p:spPr>
          <a:xfrm>
            <a:off x="1746504" y="4526280"/>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2057400" y="4526280"/>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2368296" y="4526280"/>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2679192" y="4526280"/>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2990088" y="4526280"/>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3300984" y="4526280"/>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3611880" y="4526280"/>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3922776" y="4526280"/>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4233672" y="4526280"/>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4544568" y="4526280"/>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2679192" y="4837176"/>
            <a:ext cx="310896" cy="310896"/>
          </a:xfrm>
          <a:prstGeom prst="rect">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5650992" y="1417320"/>
            <a:ext cx="2355951" cy="274320"/>
          </a:xfrm>
          <a:prstGeom prst="rect">
            <a:avLst/>
          </a:prstGeom>
          <a:noFill/>
        </p:spPr>
        <p:txBody>
          <a:bodyPr wrap="square" lIns="0" tIns="0" rIns="0" bIns="0" anchor="t">
            <a:spAutoFit/>
          </a:bodyPr>
          <a:lstStyle/>
          <a:p>
            <a:pPr algn="l">
              <a:buNone/>
            </a:pPr>
            <a:r>
              <a:rPr sz="1400" b="1" i="0">
                <a:solidFill>
                  <a:srgbClr val="92BBE6"/>
                </a:solidFill>
                <a:latin typeface="Arial"/>
              </a:rPr>
              <a:t>Across</a:t>
            </a:r>
          </a:p>
        </p:txBody>
      </p:sp>
      <p:sp>
        <p:nvSpPr>
          <p:cNvPr id="73" name="TextBox 72"/>
          <p:cNvSpPr txBox="1"/>
          <p:nvPr/>
        </p:nvSpPr>
        <p:spPr>
          <a:xfrm>
            <a:off x="5650992" y="1783080"/>
            <a:ext cx="2355951" cy="3017520"/>
          </a:xfrm>
          <a:prstGeom prst="rect">
            <a:avLst/>
          </a:prstGeom>
          <a:noFill/>
        </p:spPr>
        <p:txBody>
          <a:bodyPr wrap="square" lIns="0" tIns="0" rIns="0" bIns="0" anchor="t">
            <a:spAutoFit/>
          </a:bodyPr>
          <a:lstStyle/>
          <a:p>
            <a:pPr algn="l">
              <a:spcAft>
                <a:spcPts val="700"/>
              </a:spcAft>
              <a:buNone/>
            </a:pPr>
            <a:r>
              <a:rPr sz="1050" b="0" i="0">
                <a:solidFill>
                  <a:srgbClr val="FFFFFF"/>
                </a:solidFill>
                <a:latin typeface="Arial"/>
              </a:rPr>
              <a:t>3. Digital ____: creates a virtual replica of a physical asset</a:t>
            </a:r>
          </a:p>
          <a:p>
            <a:pPr algn="l">
              <a:spcAft>
                <a:spcPts val="700"/>
              </a:spcAft>
              <a:buNone/>
            </a:pPr>
            <a:r>
              <a:rPr sz="1050" b="0" i="0">
                <a:solidFill>
                  <a:srgbClr val="FFFFFF"/>
                </a:solidFill>
                <a:latin typeface="Arial"/>
              </a:rPr>
              <a:t>5. An early working model used for testing</a:t>
            </a:r>
          </a:p>
          <a:p>
            <a:pPr algn="l">
              <a:spcAft>
                <a:spcPts val="700"/>
              </a:spcAft>
              <a:buNone/>
            </a:pPr>
            <a:r>
              <a:rPr sz="1050" b="0" i="0">
                <a:solidFill>
                  <a:srgbClr val="FFFFFF"/>
                </a:solidFill>
                <a:latin typeface="Arial"/>
              </a:rPr>
              <a:t>7. Device that detects and measures physical conditions</a:t>
            </a:r>
          </a:p>
          <a:p>
            <a:pPr algn="l">
              <a:spcAft>
                <a:spcPts val="700"/>
              </a:spcAft>
              <a:buNone/>
            </a:pPr>
            <a:r>
              <a:rPr sz="1050" b="0" i="0">
                <a:solidFill>
                  <a:srgbClr val="FFFFFF"/>
                </a:solidFill>
                <a:latin typeface="Arial"/>
              </a:rPr>
              <a:t>8. The process of planning a product's form and function</a:t>
            </a:r>
          </a:p>
          <a:p>
            <a:pPr algn="l">
              <a:spcAft>
                <a:spcPts val="700"/>
              </a:spcAft>
              <a:buNone/>
            </a:pPr>
            <a:r>
              <a:rPr sz="1050" b="0" i="0">
                <a:solidFill>
                  <a:srgbClr val="FFFFFF"/>
                </a:solidFill>
                <a:latin typeface="Arial"/>
              </a:rPr>
              <a:t>10. Predictive ____ prevents equipment failure before it happens</a:t>
            </a:r>
          </a:p>
        </p:txBody>
      </p:sp>
      <p:sp>
        <p:nvSpPr>
          <p:cNvPr id="74" name="TextBox 73"/>
          <p:cNvSpPr txBox="1"/>
          <p:nvPr/>
        </p:nvSpPr>
        <p:spPr>
          <a:xfrm>
            <a:off x="8281263" y="1417320"/>
            <a:ext cx="2355951" cy="274320"/>
          </a:xfrm>
          <a:prstGeom prst="rect">
            <a:avLst/>
          </a:prstGeom>
          <a:noFill/>
        </p:spPr>
        <p:txBody>
          <a:bodyPr wrap="square" lIns="0" tIns="0" rIns="0" bIns="0" anchor="t">
            <a:spAutoFit/>
          </a:bodyPr>
          <a:lstStyle/>
          <a:p>
            <a:pPr algn="l">
              <a:buNone/>
            </a:pPr>
            <a:r>
              <a:rPr sz="1400" b="1" i="0">
                <a:solidFill>
                  <a:srgbClr val="92BBE6"/>
                </a:solidFill>
                <a:latin typeface="Arial"/>
              </a:rPr>
              <a:t>Down</a:t>
            </a:r>
          </a:p>
        </p:txBody>
      </p:sp>
      <p:sp>
        <p:nvSpPr>
          <p:cNvPr id="75" name="TextBox 74"/>
          <p:cNvSpPr txBox="1"/>
          <p:nvPr/>
        </p:nvSpPr>
        <p:spPr>
          <a:xfrm>
            <a:off x="8281263" y="1783080"/>
            <a:ext cx="2355951" cy="3017520"/>
          </a:xfrm>
          <a:prstGeom prst="rect">
            <a:avLst/>
          </a:prstGeom>
          <a:noFill/>
        </p:spPr>
        <p:txBody>
          <a:bodyPr wrap="square" lIns="0" tIns="0" rIns="0" bIns="0" anchor="t">
            <a:spAutoFit/>
          </a:bodyPr>
          <a:lstStyle/>
          <a:p>
            <a:pPr algn="l">
              <a:spcAft>
                <a:spcPts val="700"/>
              </a:spcAft>
              <a:buNone/>
            </a:pPr>
            <a:r>
              <a:rPr sz="1050" b="0" i="0">
                <a:solidFill>
                  <a:srgbClr val="FFFFFF"/>
                </a:solidFill>
                <a:latin typeface="Arial"/>
              </a:rPr>
              <a:t>1. Short for machine intelligence that mimics human thinking</a:t>
            </a:r>
          </a:p>
          <a:p>
            <a:pPr algn="l">
              <a:spcAft>
                <a:spcPts val="700"/>
              </a:spcAft>
              <a:buNone/>
            </a:pPr>
            <a:r>
              <a:rPr sz="1050" b="0" i="0">
                <a:solidFill>
                  <a:srgbClr val="FFFFFF"/>
                </a:solidFill>
                <a:latin typeface="Arial"/>
              </a:rPr>
              <a:t>2. A machine that can perform tasks automatically</a:t>
            </a:r>
          </a:p>
          <a:p>
            <a:pPr algn="l">
              <a:spcAft>
                <a:spcPts val="700"/>
              </a:spcAft>
              <a:buNone/>
            </a:pPr>
            <a:r>
              <a:rPr sz="1050" b="0" i="0">
                <a:solidFill>
                  <a:srgbClr val="FFFFFF"/>
                </a:solidFill>
                <a:latin typeface="Arial"/>
              </a:rPr>
              <a:t>4. Type of AI that creates new content or designs</a:t>
            </a:r>
          </a:p>
          <a:p>
            <a:pPr algn="l">
              <a:spcAft>
                <a:spcPts val="700"/>
              </a:spcAft>
              <a:buNone/>
            </a:pPr>
            <a:r>
              <a:rPr sz="1050" b="0" i="0">
                <a:solidFill>
                  <a:srgbClr val="FFFFFF"/>
                </a:solidFill>
                <a:latin typeface="Arial"/>
              </a:rPr>
              <a:t>6. Digital ____ mirrors a physical machine virtually</a:t>
            </a:r>
          </a:p>
          <a:p>
            <a:pPr algn="l">
              <a:spcAft>
                <a:spcPts val="700"/>
              </a:spcAft>
              <a:buNone/>
            </a:pPr>
            <a:r>
              <a:rPr sz="1050" b="0" i="0">
                <a:solidFill>
                  <a:srgbClr val="FFFFFF"/>
                </a:solidFill>
                <a:latin typeface="Arial"/>
              </a:rPr>
              <a:t>9. ____ control ensures consistent product standards</a:t>
            </a:r>
          </a:p>
        </p:txBody>
      </p:sp>
      <p:sp>
        <p:nvSpPr>
          <p:cNvPr id="76" name="TextBox 75"/>
          <p:cNvSpPr txBox="1"/>
          <p:nvPr/>
        </p:nvSpPr>
        <p:spPr>
          <a:xfrm>
            <a:off x="301752" y="5458968"/>
            <a:ext cx="4754880" cy="685800"/>
          </a:xfrm>
          <a:prstGeom prst="rect">
            <a:avLst/>
          </a:prstGeom>
          <a:noFill/>
        </p:spPr>
        <p:txBody>
          <a:bodyPr wrap="square" lIns="0" tIns="0" rIns="0" bIns="0" anchor="t">
            <a:spAutoFit/>
          </a:bodyPr>
          <a:lstStyle/>
          <a:p>
            <a:pPr algn="l">
              <a:spcAft>
                <a:spcPts val="200"/>
              </a:spcAft>
              <a:buNone/>
            </a:pPr>
            <a:r>
              <a:rPr sz="1050" b="1" i="0">
                <a:solidFill>
                  <a:srgbClr val="92BBE6"/>
                </a:solidFill>
                <a:latin typeface="Arial"/>
              </a:rPr>
              <a:t>Word bank</a:t>
            </a:r>
          </a:p>
          <a:p>
            <a:pPr algn="l">
              <a:lnSpc>
                <a:spcPct val="115000"/>
              </a:lnSpc>
              <a:buNone/>
            </a:pPr>
            <a:r>
              <a:rPr sz="850" b="0" i="0">
                <a:solidFill>
                  <a:srgbClr val="D0D0CE"/>
                </a:solidFill>
                <a:latin typeface="Arial"/>
              </a:rPr>
              <a:t>AI, DESIGN, DIGITAL, GENERATIVE, MAINTENANCE, PROTOTYPE, QUALITY, ROBOT, SENSOR, TWIN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000" b="1">
                <a:latin typeface="Arial"/>
              </a:rPr>
              <a:t>Thank you</a:t>
            </a:r>
          </a:p>
        </p:txBody>
      </p:sp>
      <p:sp>
        <p:nvSpPr>
          <p:cNvPr id="3" name="Text Placeholder 2"/>
          <p:cNvSpPr>
            <a:spLocks noGrp="1"/>
          </p:cNvSpPr>
          <p:nvPr>
            <p:ph type="body" sz="quarter" idx="13"/>
          </p:nvPr>
        </p:nvSpPr>
        <p:spPr>
          <a:xfrm>
            <a:off x="914400" y="4160520"/>
            <a:ext cx="6858000" cy="365760"/>
          </a:xfrm>
        </p:spPr>
        <p:txBody>
          <a:bodyPr/>
          <a:lstStyle/>
          <a:p>
            <a:r>
              <a:rPr sz="1600">
                <a:latin typeface="Arial"/>
              </a:rPr>
              <a:t>Questions?</a:t>
            </a:r>
          </a:p>
        </p:txBody>
      </p:sp>
      <p:sp>
        <p:nvSpPr>
          <p:cNvPr id="4" name="TextBox 3"/>
          <p:cNvSpPr txBox="1"/>
          <p:nvPr/>
        </p:nvSpPr>
        <p:spPr>
          <a:xfrm>
            <a:off x="914400" y="4617720"/>
            <a:ext cx="6858000" cy="274320"/>
          </a:xfrm>
          <a:prstGeom prst="rect">
            <a:avLst/>
          </a:prstGeom>
          <a:noFill/>
        </p:spPr>
        <p:txBody>
          <a:bodyPr wrap="square" lIns="0" tIns="0" rIns="0" bIns="0" anchor="t">
            <a:spAutoFit/>
          </a:bodyPr>
          <a:lstStyle/>
          <a:p>
            <a:pPr algn="l">
              <a:buNone/>
            </a:pPr>
            <a:r>
              <a:rPr sz="1250" b="1" i="0">
                <a:solidFill>
                  <a:srgbClr val="2F78C4"/>
                </a:solidFill>
                <a:latin typeface="Arial"/>
              </a:rPr>
              <a:t>Presented by</a:t>
            </a:r>
          </a:p>
        </p:txBody>
      </p:sp>
      <p:sp>
        <p:nvSpPr>
          <p:cNvPr id="5" name="TextBox 4"/>
          <p:cNvSpPr txBox="1"/>
          <p:nvPr/>
        </p:nvSpPr>
        <p:spPr>
          <a:xfrm>
            <a:off x="914400" y="4937760"/>
            <a:ext cx="6858000" cy="1325880"/>
          </a:xfrm>
          <a:prstGeom prst="rect">
            <a:avLst/>
          </a:prstGeom>
          <a:noFill/>
        </p:spPr>
        <p:txBody>
          <a:bodyPr wrap="square" lIns="0" tIns="0" rIns="0" bIns="0" anchor="t">
            <a:spAutoFit/>
          </a:bodyPr>
          <a:lstStyle/>
          <a:p>
            <a:pPr algn="l">
              <a:spcAft>
                <a:spcPts val="400"/>
              </a:spcAft>
              <a:buNone/>
            </a:pPr>
            <a:r>
              <a:rPr sz="1150" b="0" i="0">
                <a:solidFill>
                  <a:srgbClr val="000048"/>
                </a:solidFill>
                <a:latin typeface="Arial"/>
              </a:rPr>
              <a:t>Nakka RaghavaRam – 2507295</a:t>
            </a:r>
          </a:p>
          <a:p>
            <a:pPr algn="l">
              <a:spcAft>
                <a:spcPts val="400"/>
              </a:spcAft>
              <a:buNone/>
            </a:pPr>
            <a:r>
              <a:rPr sz="1150" b="0" i="0">
                <a:solidFill>
                  <a:srgbClr val="000048"/>
                </a:solidFill>
                <a:latin typeface="Arial"/>
              </a:rPr>
              <a:t>Patharlapalli Mounika – 2507324</a:t>
            </a:r>
          </a:p>
          <a:p>
            <a:pPr algn="l">
              <a:spcAft>
                <a:spcPts val="400"/>
              </a:spcAft>
              <a:buNone/>
            </a:pPr>
            <a:r>
              <a:rPr sz="1150" b="0" i="0">
                <a:solidFill>
                  <a:srgbClr val="000048"/>
                </a:solidFill>
                <a:latin typeface="Arial"/>
              </a:rPr>
              <a:t>D Varun – 2507348</a:t>
            </a:r>
          </a:p>
          <a:p>
            <a:pPr algn="l">
              <a:spcAft>
                <a:spcPts val="400"/>
              </a:spcAft>
              <a:buNone/>
            </a:pPr>
            <a:r>
              <a:rPr sz="1150" b="0" i="0">
                <a:solidFill>
                  <a:srgbClr val="000048"/>
                </a:solidFill>
                <a:latin typeface="Arial"/>
              </a:rPr>
              <a:t>Sofian Khan – 2507372</a:t>
            </a:r>
          </a:p>
          <a:p>
            <a:pPr algn="l">
              <a:spcAft>
                <a:spcPts val="400"/>
              </a:spcAft>
              <a:buNone/>
            </a:pPr>
            <a:r>
              <a:rPr sz="1150" b="0" i="0">
                <a:solidFill>
                  <a:srgbClr val="000048"/>
                </a:solidFill>
                <a:latin typeface="Arial"/>
              </a:rPr>
              <a:t>Suyash Modi – 2507374</a:t>
            </a:r>
          </a:p>
          <a:p>
            <a:pPr algn="l">
              <a:spcAft>
                <a:spcPts val="400"/>
              </a:spcAft>
              <a:buNone/>
            </a:pPr>
            <a:r>
              <a:rPr sz="1150" b="0" i="0">
                <a:solidFill>
                  <a:srgbClr val="000048"/>
                </a:solidFill>
                <a:latin typeface="Arial"/>
              </a:rPr>
              <a:t>Nakka Rohith Babu – 2507315</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2_Cognizant_2024" id="{4DB496B1-E6EF-4CBE-9AD1-A2CF8C63C2B7}" vid="{BB4BE9A0-A680-4A25-9195-1AF5CFB8503C}"/>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06F2FB6F0C0F643874E7A21317CEB83" ma:contentTypeVersion="27" ma:contentTypeDescription="Create a new document." ma:contentTypeScope="" ma:versionID="8ec88657b2e518f0e323a5bf7dbe855b">
  <xsd:schema xmlns:xsd="http://www.w3.org/2001/XMLSchema" xmlns:xs="http://www.w3.org/2001/XMLSchema" xmlns:p="http://schemas.microsoft.com/office/2006/metadata/properties" xmlns:ns2="fbe430c1-83a1-4407-a93f-d2144dec552c" xmlns:ns3="da2a811a-61f7-41d9-a96a-3fe58d3117da" targetNamespace="http://schemas.microsoft.com/office/2006/metadata/properties" ma:root="true" ma:fieldsID="41b911b9a05cd32c373fbfa0950bc15d" ns2:_="" ns3:_="">
    <xsd:import namespace="fbe430c1-83a1-4407-a93f-d2144dec552c"/>
    <xsd:import namespace="da2a811a-61f7-41d9-a96a-3fe58d3117d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Category1" minOccurs="0"/>
                <xsd:element ref="ns2:MediaLengthInSeconds" minOccurs="0"/>
                <xsd:element ref="ns2:PermissionSet" minOccurs="0"/>
                <xsd:element ref="ns2:_Flow_SignoffStatus" minOccurs="0"/>
                <xsd:element ref="ns2:MediaServiceObjectDetectorVersions" minOccurs="0"/>
                <xsd:element ref="ns2:MediaServiceSearchProperties" minOccurs="0"/>
                <xsd:element ref="ns2:MediaServiceLocation" minOccurs="0"/>
                <xsd:element ref="ns2:m2cdf977224e4362b023ebe2f5fb54ce" minOccurs="0"/>
                <xsd:element ref="ns2:n446a6503387411fbfe4842fcfb02d4c" minOccurs="0"/>
                <xsd:element ref="ns2:d0343b0fd7614bfd8975041064cafcd0" minOccurs="0"/>
                <xsd:element ref="ns2:Views" minOccurs="0"/>
                <xsd:element ref="ns2:UR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e430c1-83a1-4407-a93f-d2144dec55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3b7d1d5-7262-4eb7-85df-493a730aa646"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Category1" ma:index="19" nillable="true" ma:displayName="Category 1" ma:format="Dropdown" ma:internalName="Category1">
      <xsd:simpleType>
        <xsd:restriction base="dms:Choice">
          <xsd:enumeration value="Global Policy"/>
          <xsd:enumeration value="Ethics and Compliance "/>
          <xsd:enumeration value="Code of Ethics"/>
          <xsd:enumeration value="Translation"/>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PermissionSet" ma:index="21" nillable="true" ma:displayName="PermissionSet" ma:hidden="true" ma:internalName="PermissionSet" ma:readOnly="false">
      <xsd:simpleType>
        <xsd:restriction base="dms:Text">
          <xsd:maxLength value="255"/>
        </xsd:restriction>
      </xsd:simpleType>
    </xsd:element>
    <xsd:element name="_Flow_SignoffStatus" ma:index="22" nillable="true" ma:displayName="Sign-off status" ma:internalName="Sign_x002d_off_x0020_status">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element name="m2cdf977224e4362b023ebe2f5fb54ce" ma:index="27" nillable="true" ma:taxonomy="true" ma:internalName="m2cdf977224e4362b023ebe2f5fb54ce" ma:taxonomyFieldName="Topics" ma:displayName="Topics" ma:default="" ma:fieldId="{62cdf977-224e-4362-b023-ebe2f5fb54ce}" ma:taxonomyMulti="true" ma:sspId="63b7d1d5-7262-4eb7-85df-493a730aa646" ma:termSetId="bb61e467-d593-466a-994a-5e67bfb8b398" ma:anchorId="00000000-0000-0000-0000-000000000000" ma:open="false" ma:isKeyword="false">
      <xsd:complexType>
        <xsd:sequence>
          <xsd:element ref="pc:Terms" minOccurs="0" maxOccurs="1"/>
        </xsd:sequence>
      </xsd:complexType>
    </xsd:element>
    <xsd:element name="n446a6503387411fbfe4842fcfb02d4c" ma:index="29" nillable="true" ma:taxonomy="true" ma:internalName="n446a6503387411fbfe4842fcfb02d4c" ma:taxonomyFieldName="Business" ma:displayName="Business" ma:default="" ma:fieldId="{7446a650-3387-411f-bfe4-842fcfb02d4c}" ma:taxonomyMulti="true" ma:sspId="63b7d1d5-7262-4eb7-85df-493a730aa646" ma:termSetId="97fba6ab-a82f-4b05-8a87-5c06aa3b8c9a" ma:anchorId="00000000-0000-0000-0000-000000000000" ma:open="false" ma:isKeyword="false">
      <xsd:complexType>
        <xsd:sequence>
          <xsd:element ref="pc:Terms" minOccurs="0" maxOccurs="1"/>
        </xsd:sequence>
      </xsd:complexType>
    </xsd:element>
    <xsd:element name="d0343b0fd7614bfd8975041064cafcd0" ma:index="31" nillable="true" ma:taxonomy="true" ma:internalName="d0343b0fd7614bfd8975041064cafcd0" ma:taxonomyFieldName="Geography" ma:displayName="Geography" ma:default="" ma:fieldId="{d0343b0f-d761-4bfd-8975-041064cafcd0}" ma:taxonomyMulti="true" ma:sspId="63b7d1d5-7262-4eb7-85df-493a730aa646" ma:termSetId="57c2f89f-8209-4ff9-9cad-c95750170dde" ma:anchorId="00000000-0000-0000-0000-000000000000" ma:open="false" ma:isKeyword="false">
      <xsd:complexType>
        <xsd:sequence>
          <xsd:element ref="pc:Terms" minOccurs="0" maxOccurs="1"/>
        </xsd:sequence>
      </xsd:complexType>
    </xsd:element>
    <xsd:element name="Views" ma:index="32" nillable="true" ma:displayName="Views" ma:format="Dropdown" ma:internalName="Views" ma:percentage="FALSE">
      <xsd:simpleType>
        <xsd:restriction base="dms:Number"/>
      </xsd:simpleType>
    </xsd:element>
    <xsd:element name="URL" ma:index="33" nillable="true" ma:displayName="URL" ma:description="Links to the pdf document" ma:format="Hyperlink" ma:internalName="URL">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a2a811a-61f7-41d9-a96a-3fe58d3117d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aa6e134-06f1-4965-9f1c-4ca2ce1ac82e}" ma:internalName="TaxCatchAll" ma:showField="CatchAllData" ma:web="da2a811a-61f7-41d9-a96a-3fe58d3117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LengthInSeconds xmlns="fbe430c1-83a1-4407-a93f-d2144dec552c" xsi:nil="true"/>
    <SharedWithUsers xmlns="da2a811a-61f7-41d9-a96a-3fe58d3117da">
      <UserInfo>
        <DisplayName>Kelly, Jennifer (Contractor)</DisplayName>
        <AccountId>533</AccountId>
        <AccountType/>
      </UserInfo>
    </SharedWithUsers>
    <TaxCatchAll xmlns="da2a811a-61f7-41d9-a96a-3fe58d3117da" xsi:nil="true"/>
    <lcf76f155ced4ddcb4097134ff3c332f xmlns="fbe430c1-83a1-4407-a93f-d2144dec552c">
      <Terms xmlns="http://schemas.microsoft.com/office/infopath/2007/PartnerControls"/>
    </lcf76f155ced4ddcb4097134ff3c332f>
    <d0343b0fd7614bfd8975041064cafcd0 xmlns="fbe430c1-83a1-4407-a93f-d2144dec552c">
      <Terms xmlns="http://schemas.microsoft.com/office/infopath/2007/PartnerControls"/>
    </d0343b0fd7614bfd8975041064cafcd0>
    <_Flow_SignoffStatus xmlns="fbe430c1-83a1-4407-a93f-d2144dec552c" xsi:nil="true"/>
    <m2cdf977224e4362b023ebe2f5fb54ce xmlns="fbe430c1-83a1-4407-a93f-d2144dec552c">
      <Terms xmlns="http://schemas.microsoft.com/office/infopath/2007/PartnerControls"/>
    </m2cdf977224e4362b023ebe2f5fb54ce>
    <n446a6503387411fbfe4842fcfb02d4c xmlns="fbe430c1-83a1-4407-a93f-d2144dec552c">
      <Terms xmlns="http://schemas.microsoft.com/office/infopath/2007/PartnerControls"/>
    </n446a6503387411fbfe4842fcfb02d4c>
    <PermissionSet xmlns="fbe430c1-83a1-4407-a93f-d2144dec552c">1</PermissionSet>
    <Views xmlns="fbe430c1-83a1-4407-a93f-d2144dec552c" xsi:nil="true"/>
    <Category1 xmlns="fbe430c1-83a1-4407-a93f-d2144dec552c" xsi:nil="true"/>
    <URL xmlns="fbe430c1-83a1-4407-a93f-d2144dec552c">
      <Url xsi:nil="true"/>
      <Description xsi:nil="true"/>
    </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D8C24DA-1664-4296-904F-7BC9B9EC8A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be430c1-83a1-4407-a93f-d2144dec552c"/>
    <ds:schemaRef ds:uri="da2a811a-61f7-41d9-a96a-3fe58d3117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1A8AA3F-21FE-43F5-B698-F205039046F2}">
  <ds:schemaRefs>
    <ds:schemaRef ds:uri="http://schemas.openxmlformats.org/package/2006/metadata/core-properties"/>
    <ds:schemaRef ds:uri="http://schemas.microsoft.com/office/2006/metadata/properties"/>
    <ds:schemaRef ds:uri="http://schemas.microsoft.com/office/2006/documentManagement/types"/>
    <ds:schemaRef ds:uri="http://purl.org/dc/terms/"/>
    <ds:schemaRef ds:uri="da2a811a-61f7-41d9-a96a-3fe58d3117da"/>
    <ds:schemaRef ds:uri="http://purl.org/dc/dcmitype/"/>
    <ds:schemaRef ds:uri="http://schemas.microsoft.com/office/infopath/2007/PartnerControls"/>
    <ds:schemaRef ds:uri="fbe430c1-83a1-4407-a93f-d2144dec552c"/>
    <ds:schemaRef ds:uri="http://www.w3.org/XML/1998/namespace"/>
    <ds:schemaRef ds:uri="http://purl.org/dc/elements/1.1/"/>
  </ds:schemaRefs>
</ds:datastoreItem>
</file>

<file path=customXml/itemProps3.xml><?xml version="1.0" encoding="utf-8"?>
<ds:datastoreItem xmlns:ds="http://schemas.openxmlformats.org/officeDocument/2006/customXml" ds:itemID="{D243DB6A-4E19-4081-AD3A-F26AB785107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410</Words>
  <Application>Microsoft Office PowerPoint</Application>
  <PresentationFormat>Widescreen</PresentationFormat>
  <Paragraphs>122</Paragraphs>
  <Slides>8</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8</vt:i4>
      </vt:variant>
    </vt:vector>
  </HeadingPairs>
  <TitlesOfParts>
    <vt:vector size="10" baseType="lpstr">
      <vt:lpstr>Arial</vt:lpstr>
      <vt:lpstr>Cognizant_2024</vt:lpstr>
      <vt:lpstr>Generative AI in Manufacturing</vt:lpstr>
      <vt:lpstr>Agenda</vt:lpstr>
      <vt:lpstr>Predictive maintenance and quality control</vt:lpstr>
      <vt:lpstr>Design and prototype using AI</vt:lpstr>
      <vt:lpstr>Benefits and future scope</vt:lpstr>
      <vt:lpstr>Real-world applications</vt:lpstr>
      <vt:lpstr>Crossword puzzle</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85</cp:revision>
  <dcterms:created xsi:type="dcterms:W3CDTF">2024-03-20T19:25:52Z</dcterms:created>
  <dcterms:modified xsi:type="dcterms:W3CDTF">2026-07-12T17:49:52Z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eography">
    <vt:lpwstr/>
  </property>
  <property fmtid="{D5CDD505-2E9C-101B-9397-08002B2CF9AE}" pid="3" name="Business">
    <vt:lpwstr/>
  </property>
  <property fmtid="{D5CDD505-2E9C-101B-9397-08002B2CF9AE}" pid="4" name="xd_ProgID">
    <vt:lpwstr/>
  </property>
  <property fmtid="{D5CDD505-2E9C-101B-9397-08002B2CF9AE}" pid="5" name="MediaServiceImageTags">
    <vt:lpwstr/>
  </property>
  <property fmtid="{D5CDD505-2E9C-101B-9397-08002B2CF9AE}" pid="6" name="ContentTypeId">
    <vt:lpwstr>0x010100E06F2FB6F0C0F643874E7A21317CEB83</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Topics">
    <vt:lpwstr/>
  </property>
  <property fmtid="{D5CDD505-2E9C-101B-9397-08002B2CF9AE}" pid="12" name="xd_Signature">
    <vt:bool>false</vt:bool>
  </property>
</Properties>
</file>